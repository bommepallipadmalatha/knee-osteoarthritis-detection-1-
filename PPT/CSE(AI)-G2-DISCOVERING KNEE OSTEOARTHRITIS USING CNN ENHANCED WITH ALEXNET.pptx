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81" r:id="rId4"/>
    <p:sldId id="260" r:id="rId5"/>
    <p:sldId id="267" r:id="rId6"/>
    <p:sldId id="270" r:id="rId7"/>
    <p:sldId id="271" r:id="rId8"/>
    <p:sldId id="278" r:id="rId9"/>
    <p:sldId id="282" r:id="rId10"/>
    <p:sldId id="263" r:id="rId11"/>
    <p:sldId id="283" r:id="rId12"/>
    <p:sldId id="264" r:id="rId13"/>
    <p:sldId id="273" r:id="rId14"/>
    <p:sldId id="274" r:id="rId15"/>
    <p:sldId id="280" r:id="rId16"/>
    <p:sldId id="279" r:id="rId17"/>
    <p:sldId id="275" r:id="rId18"/>
    <p:sldId id="276" r:id="rId19"/>
    <p:sldId id="277" r:id="rId20"/>
    <p:sldId id="284" r:id="rId21"/>
    <p:sldId id="285" r:id="rId22"/>
    <p:sldId id="266" r:id="rId23"/>
    <p:sldId id="25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p:scale>
          <a:sx n="75" d="100"/>
          <a:sy n="75" d="100"/>
        </p:scale>
        <p:origin x="811" y="120"/>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3FEDB5-F731-45F7-AA51-34A7D652925A}"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3FEDB5-F731-45F7-AA51-34A7D652925A}"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3FEDB5-F731-45F7-AA51-34A7D652925A}"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3FEDB5-F731-45F7-AA51-34A7D652925A}"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3FEDB5-F731-45F7-AA51-34A7D652925A}" type="datetimeFigureOut">
              <a:rPr lang="en-IN" smtClean="0"/>
              <a:t>25-04-2026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3FEDB5-F731-45F7-AA51-34A7D652925A}" type="datetimeFigureOut">
              <a:rPr lang="en-IN" smtClean="0"/>
              <a:t>25-04-2026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3FEDB5-F731-45F7-AA51-34A7D652925A}" type="datetimeFigureOut">
              <a:rPr lang="en-IN" smtClean="0"/>
              <a:t>25-04-2026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3FEDB5-F731-45F7-AA51-34A7D652925A}"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3FEDB5-F731-45F7-AA51-34A7D652925A}"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3FEDB5-F731-45F7-AA51-34A7D652925A}"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3FEDB5-F731-45F7-AA51-34A7D652925A}"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3FEDB5-F731-45F7-AA51-34A7D652925A}"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631F95-AC7E-4C0E-AC5A-FB342A7AF79B}"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3FEDB5-F731-45F7-AA51-34A7D652925A}"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63FEDB5-F731-45F7-AA51-34A7D652925A}" type="datetimeFigureOut">
              <a:rPr lang="en-IN" smtClean="0"/>
              <a:t>25-04-2026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63FEDB5-F731-45F7-AA51-34A7D652925A}" type="datetimeFigureOut">
              <a:rPr lang="en-IN" smtClean="0"/>
              <a:t>25-04-2026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3FEDB5-F731-45F7-AA51-34A7D652925A}"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3FEDB5-F731-45F7-AA51-34A7D652925A}"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631F95-AC7E-4C0E-AC5A-FB342A7AF79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F63FEDB5-F731-45F7-AA51-34A7D652925A}" type="datetimeFigureOut">
              <a:rPr lang="en-IN" smtClean="0"/>
              <a:t>25-04-2026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E631F95-AC7E-4C0E-AC5A-FB342A7AF79B}"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1.jpg"/>
          <p:cNvPicPr preferRelativeResize="0"/>
          <p:nvPr/>
        </p:nvPicPr>
        <p:blipFill>
          <a:blip r:embed="rId2" cstate="print"/>
          <a:stretch>
            <a:fillRect/>
          </a:stretch>
        </p:blipFill>
        <p:spPr>
          <a:xfrm>
            <a:off x="1116965" y="205105"/>
            <a:ext cx="9794240" cy="1149350"/>
          </a:xfrm>
          <a:prstGeom prst="rect">
            <a:avLst/>
          </a:prstGeom>
          <a:noFill/>
        </p:spPr>
      </p:pic>
      <p:sp>
        <p:nvSpPr>
          <p:cNvPr id="3" name="TextBox 2"/>
          <p:cNvSpPr txBox="1"/>
          <p:nvPr/>
        </p:nvSpPr>
        <p:spPr>
          <a:xfrm>
            <a:off x="97155" y="1501140"/>
            <a:ext cx="12094845" cy="1054735"/>
          </a:xfrm>
          <a:prstGeom prst="rect">
            <a:avLst/>
          </a:prstGeom>
          <a:noFill/>
        </p:spPr>
        <p:txBody>
          <a:bodyPr wrap="square" rtlCol="0">
            <a:noAutofit/>
          </a:bodyPr>
          <a:lstStyle/>
          <a:p>
            <a:pPr algn="ctr"/>
            <a:r>
              <a:rPr lang="en-US" altLang="en-US" sz="2800" b="1" dirty="0">
                <a:cs typeface="+mn-lt"/>
                <a:sym typeface="+mn-ea"/>
              </a:rPr>
              <a:t>DISCOVERING KNEE OSTEOARTHRITIS USING CNN ENCHANCED WITH ALEX NET</a:t>
            </a:r>
            <a:endParaRPr lang="en-IN" sz="2800" b="1" dirty="0">
              <a:cs typeface="+mn-lt"/>
            </a:endParaRPr>
          </a:p>
        </p:txBody>
      </p:sp>
      <p:sp>
        <p:nvSpPr>
          <p:cNvPr id="4" name="TextBox 3"/>
          <p:cNvSpPr txBox="1"/>
          <p:nvPr/>
        </p:nvSpPr>
        <p:spPr>
          <a:xfrm>
            <a:off x="1636395" y="2555875"/>
            <a:ext cx="9172575" cy="955040"/>
          </a:xfrm>
          <a:prstGeom prst="rect">
            <a:avLst/>
          </a:prstGeom>
          <a:noFill/>
        </p:spPr>
        <p:txBody>
          <a:bodyPr wrap="square" rtlCol="0">
            <a:noAutofit/>
          </a:bodyPr>
          <a:lstStyle/>
          <a:p>
            <a:pPr algn="ctr"/>
            <a:r>
              <a:rPr lang="en-US" sz="3600" dirty="0">
                <a:latin typeface="Times New Roman" panose="02020603050405020304" pitchFamily="18" charset="0"/>
                <a:cs typeface="Times New Roman" panose="02020603050405020304" pitchFamily="18" charset="0"/>
              </a:rPr>
              <a:t>Under the guidance of </a:t>
            </a:r>
          </a:p>
          <a:p>
            <a:pPr algn="ctr"/>
            <a:r>
              <a:rPr lang="en-US" sz="2800" dirty="0">
                <a:latin typeface="Times New Roman" panose="02020603050405020304" pitchFamily="18" charset="0"/>
                <a:cs typeface="Times New Roman" panose="02020603050405020304" pitchFamily="18" charset="0"/>
              </a:rPr>
              <a:t>Ms.SUJATHA</a:t>
            </a:r>
            <a:endParaRPr lang="en-US" dirty="0">
              <a:latin typeface="Times New Roman" panose="02020603050405020304" pitchFamily="18" charset="0"/>
              <a:cs typeface="Times New Roman" panose="02020603050405020304" pitchFamily="18" charset="0"/>
            </a:endParaRPr>
          </a:p>
          <a:p>
            <a:pPr algn="ctr"/>
            <a:r>
              <a:rPr lang="en-US" dirty="0" err="1"/>
              <a:t>Assit.Professor,Dept.of</a:t>
            </a:r>
            <a:r>
              <a:rPr lang="en-US" dirty="0"/>
              <a:t> CSE</a:t>
            </a:r>
            <a:endParaRPr lang="en-IN" dirty="0"/>
          </a:p>
        </p:txBody>
      </p:sp>
      <p:sp>
        <p:nvSpPr>
          <p:cNvPr id="5" name="TextBox 4"/>
          <p:cNvSpPr txBox="1"/>
          <p:nvPr/>
        </p:nvSpPr>
        <p:spPr>
          <a:xfrm>
            <a:off x="97155" y="5796280"/>
            <a:ext cx="12094845" cy="786130"/>
          </a:xfrm>
          <a:prstGeom prst="rect">
            <a:avLst/>
          </a:prstGeom>
          <a:noFill/>
        </p:spPr>
        <p:txBody>
          <a:bodyPr wrap="square" rtlCol="0">
            <a:noAutofit/>
          </a:bodyPr>
          <a:lstStyle/>
          <a:p>
            <a:pPr algn="ctr"/>
            <a:r>
              <a:rPr lang="en-US" sz="3200" dirty="0">
                <a:gradFill>
                  <a:gsLst>
                    <a:gs pos="50000">
                      <a:schemeClr val="tx1"/>
                    </a:gs>
                    <a:gs pos="0">
                      <a:schemeClr val="tx1">
                        <a:lumMod val="25000"/>
                        <a:lumOff val="75000"/>
                      </a:schemeClr>
                    </a:gs>
                    <a:gs pos="100000">
                      <a:schemeClr val="tx1">
                        <a:lumMod val="85000"/>
                      </a:schemeClr>
                    </a:gs>
                  </a:gsLst>
                  <a:lin ang="5400000" scaled="1"/>
                </a:gradFill>
              </a:rPr>
              <a:t>Department of Computer Science and Engineering -</a:t>
            </a:r>
          </a:p>
          <a:p>
            <a:pPr algn="ctr"/>
            <a:r>
              <a:rPr lang="en-US" sz="3200" dirty="0">
                <a:gradFill>
                  <a:gsLst>
                    <a:gs pos="50000">
                      <a:schemeClr val="tx1"/>
                    </a:gs>
                    <a:gs pos="0">
                      <a:schemeClr val="tx1">
                        <a:lumMod val="25000"/>
                        <a:lumOff val="75000"/>
                      </a:schemeClr>
                    </a:gs>
                    <a:gs pos="100000">
                      <a:schemeClr val="tx1">
                        <a:lumMod val="85000"/>
                      </a:schemeClr>
                    </a:gs>
                  </a:gsLst>
                  <a:lin ang="5400000" scaled="1"/>
                </a:gradFill>
              </a:rPr>
              <a:t>Artificial Intelligence</a:t>
            </a:r>
          </a:p>
        </p:txBody>
      </p:sp>
      <p:sp>
        <p:nvSpPr>
          <p:cNvPr id="6" name="TextBox 5"/>
          <p:cNvSpPr txBox="1"/>
          <p:nvPr/>
        </p:nvSpPr>
        <p:spPr>
          <a:xfrm>
            <a:off x="3119120" y="3792855"/>
            <a:ext cx="6425565" cy="1721485"/>
          </a:xfrm>
          <a:prstGeom prst="rect">
            <a:avLst/>
          </a:prstGeom>
          <a:noFill/>
        </p:spPr>
        <p:txBody>
          <a:bodyPr wrap="square" rtlCol="0">
            <a:noAutofit/>
          </a:bodyPr>
          <a:lstStyle/>
          <a:p>
            <a:pPr indent="0">
              <a:buNone/>
            </a:pPr>
            <a:endParaRPr lang="en-US" b="1" dirty="0" err="1">
              <a:gradFill>
                <a:gsLst>
                  <a:gs pos="50000">
                    <a:schemeClr val="tx1"/>
                  </a:gs>
                  <a:gs pos="0">
                    <a:schemeClr val="tx1">
                      <a:lumMod val="25000"/>
                      <a:lumOff val="75000"/>
                    </a:schemeClr>
                  </a:gs>
                  <a:gs pos="100000">
                    <a:schemeClr val="tx1">
                      <a:lumMod val="85000"/>
                    </a:schemeClr>
                  </a:gs>
                </a:gsLst>
                <a:lin ang="5400000" scaled="1"/>
              </a:gradFill>
              <a:sym typeface="+mn-ea"/>
            </a:endParaRPr>
          </a:p>
          <a:p>
            <a:pPr indent="0">
              <a:buNone/>
            </a:pPr>
            <a:r>
              <a:rPr lang="en-US" b="1" dirty="0" err="1">
                <a:gradFill>
                  <a:gsLst>
                    <a:gs pos="50000">
                      <a:schemeClr val="tx1"/>
                    </a:gs>
                    <a:gs pos="0">
                      <a:schemeClr val="tx1">
                        <a:lumMod val="25000"/>
                        <a:lumOff val="75000"/>
                      </a:schemeClr>
                    </a:gs>
                    <a:gs pos="100000">
                      <a:schemeClr val="tx1">
                        <a:lumMod val="85000"/>
                      </a:schemeClr>
                    </a:gs>
                  </a:gsLst>
                  <a:lin ang="5400000" scaled="1"/>
                </a:gradFill>
                <a:sym typeface="+mn-ea"/>
              </a:rPr>
              <a:t>Name of the students</a:t>
            </a:r>
          </a:p>
          <a:p>
            <a:pPr marL="342900" indent="-342900">
              <a:buAutoNum type="arabicPeriod"/>
            </a:pPr>
            <a:r>
              <a:rPr lang="en-US" dirty="0" err="1">
                <a:sym typeface="+mn-ea"/>
              </a:rPr>
              <a:t>B.M.Chand</a:t>
            </a:r>
            <a:r>
              <a:rPr lang="en-US" dirty="0">
                <a:sym typeface="+mn-ea"/>
              </a:rPr>
              <a:t> (222P1A3107)</a:t>
            </a:r>
            <a:endParaRPr lang="en-US" dirty="0"/>
          </a:p>
          <a:p>
            <a:pPr marL="342900" indent="-342900">
              <a:buAutoNum type="arabicPeriod"/>
            </a:pPr>
            <a:r>
              <a:rPr lang="en-US" dirty="0">
                <a:sym typeface="+mn-ea"/>
              </a:rPr>
              <a:t>B. Sri Harika Padma Latha (222P1A3109)       </a:t>
            </a:r>
            <a:endParaRPr lang="en-US" dirty="0"/>
          </a:p>
          <a:p>
            <a:pPr marL="342900" indent="-342900">
              <a:buAutoNum type="arabicPeriod"/>
            </a:pPr>
            <a:r>
              <a:rPr lang="en-US" dirty="0" err="1">
                <a:sym typeface="+mn-ea"/>
              </a:rPr>
              <a:t>M.Prathima</a:t>
            </a:r>
            <a:r>
              <a:rPr lang="en-US" dirty="0">
                <a:sym typeface="+mn-ea"/>
              </a:rPr>
              <a:t> (222P1A3123)</a:t>
            </a:r>
            <a:endParaRPr lang="en-US" dirty="0"/>
          </a:p>
          <a:p>
            <a:pPr marL="342900" indent="-342900">
              <a:buAutoNum type="arabicPeriod"/>
            </a:pPr>
            <a:r>
              <a:rPr lang="en-US" dirty="0" err="1">
                <a:sym typeface="+mn-ea"/>
              </a:rPr>
              <a:t>R.Amrina</a:t>
            </a:r>
            <a:r>
              <a:rPr lang="en-US" dirty="0">
                <a:sym typeface="+mn-ea"/>
              </a:rPr>
              <a:t> (222P1A3139)</a:t>
            </a:r>
            <a:endParaRPr lang="en-US" dirty="0"/>
          </a:p>
          <a:p>
            <a:pPr marL="342900" indent="-342900">
              <a:buAutoNum type="arabicPeriod"/>
            </a:pPr>
            <a:r>
              <a:rPr lang="en-US" dirty="0" err="1">
                <a:sym typeface="+mn-ea"/>
              </a:rPr>
              <a:t>S.Muskan</a:t>
            </a:r>
            <a:r>
              <a:rPr lang="en-US" dirty="0">
                <a:sym typeface="+mn-ea"/>
              </a:rPr>
              <a:t>(222P1A3145)</a:t>
            </a: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635"/>
            <a:ext cx="10353675" cy="932180"/>
          </a:xfrm>
        </p:spPr>
        <p:txBody>
          <a:bodyPr/>
          <a:lstStyle/>
          <a:p>
            <a:r>
              <a:rPr lang="en-IN"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548640" y="803910"/>
            <a:ext cx="11392535" cy="6054090"/>
          </a:xfrm>
        </p:spPr>
        <p:txBody>
          <a:bodyPr>
            <a:noAutofit/>
          </a:bodyPr>
          <a:lstStyle/>
          <a:p>
            <a:pPr indent="457200" algn="just">
              <a:lnSpc>
                <a:spcPct val="100000"/>
              </a:lnSpc>
              <a:buNone/>
            </a:pPr>
            <a:endParaRPr lang="en-US" dirty="0">
              <a:latin typeface="Times New Roman" panose="02020603050405020304" pitchFamily="18" charset="0"/>
              <a:cs typeface="Times New Roman" panose="02020603050405020304" pitchFamily="18" charset="0"/>
            </a:endParaRPr>
          </a:p>
          <a:p>
            <a:pPr indent="457200" algn="just">
              <a:lnSpc>
                <a:spcPct val="100000"/>
              </a:lnSpc>
              <a:buNone/>
            </a:pPr>
            <a:r>
              <a:rPr lang="en-US" dirty="0">
                <a:latin typeface="Times New Roman" panose="02020603050405020304" pitchFamily="18" charset="0"/>
                <a:cs typeface="Times New Roman" panose="02020603050405020304" pitchFamily="18" charset="0"/>
              </a:rPr>
              <a:t>Knee Osteoarthritis (KOA) is a prevalent and chronic degenerative joint disease that significantly affects the quality of life of millions of people worldwide, particularly the aging population. Early and accurate detection of KOA is essential for effective intervention, timely treatment, and prevention of severe joint damage, thereby improving patient mobility and overall outcomes. Traditional diagnosis mainly relies on the manual analysis of knee X-ray images by radiologists, which is time-consuming and highly dependent on clinical expertise. Earlier automated methods based on conventional machine learning techniques such as Support Vector Machine (SVM), Random Forest (RF), and k-Nearest Neighbors (k-NN) with handcrafted features often suffer from limited accuracy due to their inability to capture complex image patterns. To overcome these limitations, this study proposes an innovative automated KOA detection system using a hybrid deep learning approach based on Convolutional Neural Networks (CNNs). The proposed ensemble model integrates the strengths of </a:t>
            </a:r>
            <a:r>
              <a:rPr lang="en-US" dirty="0" err="1">
                <a:latin typeface="Times New Roman" panose="02020603050405020304" pitchFamily="18" charset="0"/>
                <a:cs typeface="Times New Roman" panose="02020603050405020304" pitchFamily="18" charset="0"/>
              </a:rPr>
              <a:t>AlexNet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MobileNet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architectures for robust deep feature extraction and classification of knee X-ray images into different stages of osteoarthritis. Additionally, transfer learning and image preprocessing techniques are employed to enhance feature learning and improve image quality, leading to better model performance. The obtained results show that the proposed model delivers high accuracy in classifying different stages of KOA, enabling early diagnosis and supporting timely medical intervention to improve patient outcomes.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1635A-9414-8CF7-4E07-DDDC9A86AF25}"/>
              </a:ext>
            </a:extLst>
          </p:cNvPr>
          <p:cNvSpPr>
            <a:spLocks noGrp="1"/>
          </p:cNvSpPr>
          <p:nvPr>
            <p:ph type="title"/>
          </p:nvPr>
        </p:nvSpPr>
        <p:spPr>
          <a:xfrm>
            <a:off x="186208" y="216311"/>
            <a:ext cx="10353761" cy="747252"/>
          </a:xfrm>
        </p:spPr>
        <p:txBody>
          <a:bodyPr/>
          <a:lstStyle/>
          <a:p>
            <a:r>
              <a:rPr lang="en-IN" sz="3600" dirty="0"/>
              <a:t>WHAT IS</a:t>
            </a:r>
            <a:r>
              <a:rPr lang="en-IN" dirty="0"/>
              <a:t> </a:t>
            </a:r>
            <a:r>
              <a:rPr lang="en-IN" sz="3600" dirty="0"/>
              <a:t>KNEE</a:t>
            </a:r>
            <a:r>
              <a:rPr lang="en-IN" dirty="0"/>
              <a:t> </a:t>
            </a:r>
            <a:r>
              <a:rPr lang="en-IN" sz="3600" dirty="0"/>
              <a:t>OSTEOARTHRITIS?</a:t>
            </a:r>
            <a:endParaRPr lang="en-IN" dirty="0"/>
          </a:p>
        </p:txBody>
      </p:sp>
      <p:pic>
        <p:nvPicPr>
          <p:cNvPr id="4" name="Content Placeholder 3">
            <a:extLst>
              <a:ext uri="{FF2B5EF4-FFF2-40B4-BE49-F238E27FC236}">
                <a16:creationId xmlns:a16="http://schemas.microsoft.com/office/drawing/2014/main" id="{225D39BC-2F27-966F-AB94-06A6EDDA3B61}"/>
              </a:ext>
            </a:extLst>
          </p:cNvPr>
          <p:cNvPicPr>
            <a:picLocks noGrp="1" noChangeAspect="1"/>
          </p:cNvPicPr>
          <p:nvPr>
            <p:ph idx="1"/>
          </p:nvPr>
        </p:nvPicPr>
        <p:blipFill>
          <a:blip r:embed="rId2"/>
          <a:stretch>
            <a:fillRect/>
          </a:stretch>
        </p:blipFill>
        <p:spPr>
          <a:xfrm>
            <a:off x="7725780" y="1147916"/>
            <a:ext cx="3888394" cy="2362200"/>
          </a:xfrm>
          <a:prstGeom prst="rect">
            <a:avLst/>
          </a:prstGeom>
        </p:spPr>
      </p:pic>
      <p:pic>
        <p:nvPicPr>
          <p:cNvPr id="5" name="Picture 4">
            <a:extLst>
              <a:ext uri="{FF2B5EF4-FFF2-40B4-BE49-F238E27FC236}">
                <a16:creationId xmlns:a16="http://schemas.microsoft.com/office/drawing/2014/main" id="{5528ED4F-4112-56F8-4CC4-6AF7D14110CA}"/>
              </a:ext>
            </a:extLst>
          </p:cNvPr>
          <p:cNvPicPr>
            <a:picLocks noChangeAspect="1"/>
          </p:cNvPicPr>
          <p:nvPr/>
        </p:nvPicPr>
        <p:blipFill>
          <a:blip r:embed="rId3"/>
          <a:stretch>
            <a:fillRect/>
          </a:stretch>
        </p:blipFill>
        <p:spPr>
          <a:xfrm>
            <a:off x="7810318" y="3824749"/>
            <a:ext cx="3605553" cy="2477728"/>
          </a:xfrm>
          <a:prstGeom prst="rect">
            <a:avLst/>
          </a:prstGeom>
        </p:spPr>
      </p:pic>
      <p:sp>
        <p:nvSpPr>
          <p:cNvPr id="10" name="Rectangle 4">
            <a:extLst>
              <a:ext uri="{FF2B5EF4-FFF2-40B4-BE49-F238E27FC236}">
                <a16:creationId xmlns:a16="http://schemas.microsoft.com/office/drawing/2014/main" id="{A6E2901D-6E38-8D68-41BD-4847E9F1B706}"/>
              </a:ext>
            </a:extLst>
          </p:cNvPr>
          <p:cNvSpPr>
            <a:spLocks noChangeArrowheads="1"/>
          </p:cNvSpPr>
          <p:nvPr/>
        </p:nvSpPr>
        <p:spPr bwMode="auto">
          <a:xfrm>
            <a:off x="186208" y="1952883"/>
            <a:ext cx="7058654"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Knee osteoarthritis is a common problem in which the knee joint slowly gets damaged over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Finding this condition early is important for proper treatment and better recovery.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usually happens because of aging and repeated use, which causes the cartilage in the knee to gradually wear down. It is more common in older people. </a:t>
            </a:r>
          </a:p>
        </p:txBody>
      </p:sp>
    </p:spTree>
    <p:extLst>
      <p:ext uri="{BB962C8B-B14F-4D97-AF65-F5344CB8AC3E}">
        <p14:creationId xmlns:p14="http://schemas.microsoft.com/office/powerpoint/2010/main" val="242741148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156845"/>
            <a:ext cx="10353675" cy="1003300"/>
          </a:xfrm>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838200" y="1028700"/>
            <a:ext cx="10953750" cy="5354955"/>
          </a:xfrm>
        </p:spPr>
        <p:txBody>
          <a:bodyPr>
            <a:noAutofit/>
          </a:bodyPr>
          <a:lstStyle/>
          <a:p>
            <a:r>
              <a:rPr lang="en-US" sz="1900" dirty="0">
                <a:latin typeface="Times New Roman" panose="02020603050405020304" pitchFamily="18" charset="0"/>
                <a:cs typeface="Times New Roman" panose="02020603050405020304" pitchFamily="18" charset="0"/>
              </a:rPr>
              <a:t>Knee Osteoarthritis (KOA) is a common joint disorder that affects millions of people worldwide. It occurs when the cartilage in the knee joint gradually wears down over time, leading to pain, stiffness, swelling, and difficulty in movement. This condition is more commonly seen in older adults due to aging, but it is also increasing in younger individuals because of obesity, injuries, lack of exercise, and unhealthy lifestyle habits.</a:t>
            </a:r>
          </a:p>
          <a:p>
            <a:r>
              <a:rPr lang="en-US" sz="1900" dirty="0">
                <a:latin typeface="Times New Roman" panose="02020603050405020304" pitchFamily="18" charset="0"/>
                <a:cs typeface="Times New Roman" panose="02020603050405020304" pitchFamily="18" charset="0"/>
              </a:rPr>
              <a:t>Early detection of KOA is important to avoid severe joint damage and to improve the quality of life of patients. Traditional diagnosis mainly depends on the manual examination of knee X-ray images by doctors, which can be time-consuming and depends greatly on medical expertise. In some cases, early-stage osteoarthritis may not be identified accurately. Earlier methods also used traditional machine learning techniques such as Support Vector Machine (SVM), Random Forest (RF), and k-Nearest Neighbors (k-NN) for classification, but these methods often provided limited accuracy.</a:t>
            </a:r>
          </a:p>
          <a:p>
            <a:r>
              <a:rPr lang="en-US" sz="1900" dirty="0">
                <a:latin typeface="Times New Roman" panose="02020603050405020304" pitchFamily="18" charset="0"/>
                <a:cs typeface="Times New Roman" panose="02020603050405020304" pitchFamily="18" charset="0"/>
              </a:rPr>
              <a:t>To overcome these challenges, this project proposes an automated KOA detection system using both machine learning and deep learning techniques. The proposed system uses multiple Convolutional Neural Network (CNN) models such as </a:t>
            </a:r>
            <a:r>
              <a:rPr lang="en-US" sz="1900" dirty="0" err="1">
                <a:latin typeface="Times New Roman" panose="02020603050405020304" pitchFamily="18" charset="0"/>
                <a:cs typeface="Times New Roman" panose="02020603050405020304" pitchFamily="18" charset="0"/>
              </a:rPr>
              <a:t>AlexNet</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MobileNet</a:t>
            </a:r>
            <a:r>
              <a:rPr lang="en-US" sz="1900" dirty="0">
                <a:latin typeface="Times New Roman" panose="02020603050405020304" pitchFamily="18" charset="0"/>
                <a:cs typeface="Times New Roman" panose="02020603050405020304" pitchFamily="18" charset="0"/>
              </a:rPr>
              <a:t>, and </a:t>
            </a:r>
            <a:r>
              <a:rPr lang="en-US" sz="1900" dirty="0" err="1">
                <a:latin typeface="Times New Roman" panose="02020603050405020304" pitchFamily="18" charset="0"/>
                <a:cs typeface="Times New Roman" panose="02020603050405020304" pitchFamily="18" charset="0"/>
              </a:rPr>
              <a:t>ResNet</a:t>
            </a:r>
            <a:r>
              <a:rPr lang="en-US" sz="1900" dirty="0">
                <a:latin typeface="Times New Roman" panose="02020603050405020304" pitchFamily="18" charset="0"/>
                <a:cs typeface="Times New Roman" panose="02020603050405020304" pitchFamily="18" charset="0"/>
              </a:rPr>
              <a:t> to analyze knee X-ray images and classify the severity stages of osteoarthritis. Transfer learning and image preprocessing methods are also applied to improve the performance and accuracy of the model.</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213995"/>
            <a:ext cx="10353675" cy="1106805"/>
          </a:xfrm>
        </p:spPr>
        <p:txBody>
          <a:bodyPr/>
          <a:lstStyle/>
          <a:p>
            <a:r>
              <a:rPr lang="en-IN" b="1" dirty="0">
                <a:latin typeface="Times New Roman" panose="02020603050405020304" pitchFamily="18" charset="0"/>
                <a:cs typeface="Times New Roman" panose="02020603050405020304" pitchFamily="18" charset="0"/>
              </a:rPr>
              <a:t>System Requirements</a:t>
            </a:r>
            <a:endParaRPr lang="en-IN" dirty="0"/>
          </a:p>
        </p:txBody>
      </p:sp>
      <p:sp>
        <p:nvSpPr>
          <p:cNvPr id="3" name="Content Placeholder 2"/>
          <p:cNvSpPr>
            <a:spLocks noGrp="1"/>
          </p:cNvSpPr>
          <p:nvPr>
            <p:ph idx="1"/>
          </p:nvPr>
        </p:nvSpPr>
        <p:spPr>
          <a:xfrm>
            <a:off x="913765" y="1115060"/>
            <a:ext cx="10353675" cy="4997450"/>
          </a:xfrm>
        </p:spPr>
        <p:txBody>
          <a:bodyPr>
            <a:normAutofit fontScale="67500" lnSpcReduction="20000"/>
          </a:bodyPr>
          <a:lstStyle/>
          <a:p>
            <a:pPr marL="0" indent="0">
              <a:buNone/>
            </a:pPr>
            <a:r>
              <a:rPr lang="en-US" altLang="en-US" sz="3000" b="1" dirty="0">
                <a:latin typeface="Times New Roman" panose="02020603050405020304" pitchFamily="18" charset="0"/>
                <a:cs typeface="Times New Roman" panose="02020603050405020304" pitchFamily="18" charset="0"/>
              </a:rPr>
              <a:t>Hardware Requirements:</a:t>
            </a:r>
          </a:p>
          <a:p>
            <a:pPr marL="0" indent="0">
              <a:buNone/>
            </a:pPr>
            <a:r>
              <a:rPr lang="en-US" altLang="en-US" sz="3000" dirty="0">
                <a:latin typeface="Times New Roman" panose="02020603050405020304" pitchFamily="18" charset="0"/>
                <a:cs typeface="Times New Roman" panose="02020603050405020304" pitchFamily="18" charset="0"/>
              </a:rPr>
              <a:t>System : Intel i5 Processor (or i3 minimum)</a:t>
            </a:r>
          </a:p>
          <a:p>
            <a:pPr marL="0" indent="0">
              <a:buNone/>
            </a:pPr>
            <a:r>
              <a:rPr lang="en-US" altLang="en-US" sz="3000" dirty="0">
                <a:latin typeface="Times New Roman" panose="02020603050405020304" pitchFamily="18" charset="0"/>
                <a:cs typeface="Times New Roman" panose="02020603050405020304" pitchFamily="18" charset="0"/>
              </a:rPr>
              <a:t>Hard Disk : 256 GB</a:t>
            </a:r>
          </a:p>
          <a:p>
            <a:pPr marL="0" indent="0">
              <a:buNone/>
            </a:pPr>
            <a:r>
              <a:rPr lang="en-US" altLang="en-US" sz="3000" dirty="0">
                <a:latin typeface="Times New Roman" panose="02020603050405020304" pitchFamily="18" charset="0"/>
                <a:cs typeface="Times New Roman" panose="02020603050405020304" pitchFamily="18" charset="0"/>
              </a:rPr>
              <a:t>RAM : 8 GB</a:t>
            </a:r>
          </a:p>
          <a:p>
            <a:pPr marL="0" indent="0">
              <a:buNone/>
            </a:pPr>
            <a:endParaRPr lang="en-US" altLang="en-US" sz="3000" dirty="0">
              <a:latin typeface="Times New Roman" panose="02020603050405020304" pitchFamily="18" charset="0"/>
              <a:cs typeface="Times New Roman" panose="02020603050405020304" pitchFamily="18" charset="0"/>
            </a:endParaRPr>
          </a:p>
          <a:p>
            <a:pPr marL="0" indent="0">
              <a:buNone/>
            </a:pPr>
            <a:r>
              <a:rPr lang="en-US" altLang="en-US" sz="3000" b="1" dirty="0">
                <a:latin typeface="Times New Roman" panose="02020603050405020304" pitchFamily="18" charset="0"/>
                <a:cs typeface="Times New Roman" panose="02020603050405020304" pitchFamily="18" charset="0"/>
              </a:rPr>
              <a:t>Software Requirements:</a:t>
            </a:r>
          </a:p>
          <a:p>
            <a:pPr marL="0" indent="0">
              <a:buNone/>
            </a:pPr>
            <a:r>
              <a:rPr lang="en-US" altLang="en-US" sz="3000" dirty="0">
                <a:latin typeface="Times New Roman" panose="02020603050405020304" pitchFamily="18" charset="0"/>
                <a:cs typeface="Times New Roman" panose="02020603050405020304" pitchFamily="18" charset="0"/>
              </a:rPr>
              <a:t>Operating System : Windows 10</a:t>
            </a:r>
          </a:p>
          <a:p>
            <a:pPr marL="0" indent="0">
              <a:buNone/>
            </a:pPr>
            <a:r>
              <a:rPr lang="en-US" altLang="en-US" sz="3000" dirty="0">
                <a:latin typeface="Times New Roman" panose="02020603050405020304" pitchFamily="18" charset="0"/>
                <a:cs typeface="Times New Roman" panose="02020603050405020304" pitchFamily="18" charset="0"/>
              </a:rPr>
              <a:t>Programming Language : Python</a:t>
            </a:r>
          </a:p>
          <a:p>
            <a:pPr marL="0" indent="0">
              <a:buNone/>
            </a:pPr>
            <a:r>
              <a:rPr lang="en-US" altLang="en-US" sz="3000" dirty="0">
                <a:latin typeface="Times New Roman" panose="02020603050405020304" pitchFamily="18" charset="0"/>
                <a:cs typeface="Times New Roman" panose="02020603050405020304" pitchFamily="18" charset="0"/>
              </a:rPr>
              <a:t>Development Tools :  VS Code</a:t>
            </a:r>
          </a:p>
          <a:p>
            <a:pPr marL="0" indent="0">
              <a:buNone/>
            </a:pPr>
            <a:r>
              <a:rPr lang="en-US" altLang="en-US" sz="3000" dirty="0">
                <a:latin typeface="Times New Roman" panose="02020603050405020304" pitchFamily="18" charset="0"/>
                <a:cs typeface="Times New Roman" panose="02020603050405020304" pitchFamily="18" charset="0"/>
              </a:rPr>
              <a:t>Libraries : PyTorch, NumPy, OpenCV, Matplotlib, Flask</a:t>
            </a:r>
          </a:p>
          <a:p>
            <a:pPr marL="0" indent="0">
              <a:buNone/>
            </a:pPr>
            <a:r>
              <a:rPr lang="en-US" altLang="en-US" sz="3000" dirty="0">
                <a:latin typeface="Times New Roman" panose="02020603050405020304" pitchFamily="18" charset="0"/>
                <a:cs typeface="Times New Roman" panose="02020603050405020304" pitchFamily="18" charset="0"/>
              </a:rPr>
              <a:t>Dataset : Knee X-ray images</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189230"/>
            <a:ext cx="10353675" cy="1066165"/>
          </a:xfrm>
        </p:spPr>
        <p:txBody>
          <a:bodyPr/>
          <a:lstStyle/>
          <a:p>
            <a:r>
              <a:rPr lang="en-IN" b="1" dirty="0">
                <a:latin typeface="Times New Roman" panose="02020603050405020304" pitchFamily="18" charset="0"/>
                <a:cs typeface="Times New Roman" panose="02020603050405020304" pitchFamily="18" charset="0"/>
              </a:rPr>
              <a:t>Literature Survey</a:t>
            </a:r>
          </a:p>
        </p:txBody>
      </p:sp>
      <p:graphicFrame>
        <p:nvGraphicFramePr>
          <p:cNvPr id="6" name="Content Placeholder 5"/>
          <p:cNvGraphicFramePr>
            <a:graphicFrameLocks noGrp="1"/>
          </p:cNvGraphicFramePr>
          <p:nvPr>
            <p:ph idx="1"/>
            <p:custDataLst>
              <p:tags r:id="rId1"/>
            </p:custDataLst>
          </p:nvPr>
        </p:nvGraphicFramePr>
        <p:xfrm>
          <a:off x="913765" y="1255395"/>
          <a:ext cx="10353675" cy="5376355"/>
        </p:xfrm>
        <a:graphic>
          <a:graphicData uri="http://schemas.openxmlformats.org/drawingml/2006/table">
            <a:tbl>
              <a:tblPr firstRow="1" bandRow="1">
                <a:tableStyleId>{5C22544A-7EE6-4342-B048-85BDC9FD1C3A}</a:tableStyleId>
              </a:tblPr>
              <a:tblGrid>
                <a:gridCol w="82169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736725">
                  <a:extLst>
                    <a:ext uri="{9D8B030D-6E8A-4147-A177-3AD203B41FA5}">
                      <a16:colId xmlns:a16="http://schemas.microsoft.com/office/drawing/2014/main" val="20002"/>
                    </a:ext>
                  </a:extLst>
                </a:gridCol>
                <a:gridCol w="1862455">
                  <a:extLst>
                    <a:ext uri="{9D8B030D-6E8A-4147-A177-3AD203B41FA5}">
                      <a16:colId xmlns:a16="http://schemas.microsoft.com/office/drawing/2014/main" val="20003"/>
                    </a:ext>
                  </a:extLst>
                </a:gridCol>
                <a:gridCol w="4446905">
                  <a:extLst>
                    <a:ext uri="{9D8B030D-6E8A-4147-A177-3AD203B41FA5}">
                      <a16:colId xmlns:a16="http://schemas.microsoft.com/office/drawing/2014/main" val="20004"/>
                    </a:ext>
                  </a:extLst>
                </a:gridCol>
              </a:tblGrid>
              <a:tr h="371475">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2391410">
                <a:tc>
                  <a:txBody>
                    <a:bodyPr/>
                    <a:lstStyle/>
                    <a:p>
                      <a:pPr algn="just">
                        <a:lnSpc>
                          <a:spcPct val="150000"/>
                        </a:lnSpc>
                      </a:pPr>
                      <a:r>
                        <a:rPr lang="en-US" sz="1600" dirty="0">
                          <a:latin typeface="Times New Roman" panose="02020603050405020304" pitchFamily="18" charset="0"/>
                          <a:cs typeface="Times New Roman" panose="02020603050405020304" pitchFamily="18" charset="0"/>
                        </a:rPr>
                        <a:t>1</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500" b="0" kern="1200" dirty="0">
                          <a:solidFill>
                            <a:schemeClr val="bg1"/>
                          </a:solidFill>
                          <a:effectLst/>
                          <a:latin typeface="Times New Roman" panose="02020603050405020304" pitchFamily="18" charset="0"/>
                          <a:ea typeface="+mn-ea"/>
                          <a:cs typeface="Times New Roman" panose="02020603050405020304" pitchFamily="18" charset="0"/>
                        </a:rPr>
                        <a:t>IEEE, 2022</a:t>
                      </a:r>
                    </a:p>
                    <a:p>
                      <a:pPr algn="just">
                        <a:lnSpc>
                          <a:spcPct val="150000"/>
                        </a:lnSpc>
                      </a:pPr>
                      <a:endParaRPr lang="en-US" sz="15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bg1"/>
                          </a:solidFill>
                          <a:effectLst/>
                          <a:latin typeface="Times New Roman" panose="02020603050405020304" pitchFamily="18" charset="0"/>
                          <a:ea typeface="+mn-ea"/>
                          <a:cs typeface="Times New Roman" panose="02020603050405020304" pitchFamily="18" charset="0"/>
                        </a:rPr>
                        <a:t>T. </a:t>
                      </a:r>
                      <a:r>
                        <a:rPr lang="en-US" sz="1400" b="0" kern="1200" dirty="0" err="1">
                          <a:solidFill>
                            <a:schemeClr val="bg1"/>
                          </a:solidFill>
                          <a:effectLst/>
                          <a:latin typeface="Times New Roman" panose="02020603050405020304" pitchFamily="18" charset="0"/>
                          <a:ea typeface="+mn-ea"/>
                          <a:cs typeface="Times New Roman" panose="02020603050405020304" pitchFamily="18" charset="0"/>
                        </a:rPr>
                        <a:t>Sivakumari</a:t>
                      </a:r>
                      <a:r>
                        <a:rPr lang="en-US" sz="1400" b="0" kern="1200" dirty="0">
                          <a:solidFill>
                            <a:schemeClr val="bg1"/>
                          </a:solidFill>
                          <a:effectLst/>
                          <a:latin typeface="Times New Roman" panose="02020603050405020304" pitchFamily="18" charset="0"/>
                          <a:ea typeface="+mn-ea"/>
                          <a:cs typeface="Times New Roman" panose="02020603050405020304" pitchFamily="18" charset="0"/>
                        </a:rPr>
                        <a:t>; R. Vani</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bg1"/>
                          </a:solidFill>
                          <a:effectLst/>
                          <a:latin typeface="Times New Roman" panose="02020603050405020304" pitchFamily="18" charset="0"/>
                          <a:ea typeface="+mn-ea"/>
                          <a:cs typeface="Times New Roman" panose="02020603050405020304" pitchFamily="18" charset="0"/>
                        </a:rPr>
                        <a:t>Implementation of </a:t>
                      </a:r>
                      <a:r>
                        <a:rPr lang="en-US" sz="1400" b="0" kern="1200" dirty="0" err="1">
                          <a:solidFill>
                            <a:schemeClr val="bg1"/>
                          </a:solidFill>
                          <a:effectLst/>
                          <a:latin typeface="Times New Roman" panose="02020603050405020304" pitchFamily="18" charset="0"/>
                          <a:ea typeface="+mn-ea"/>
                          <a:cs typeface="Times New Roman" panose="02020603050405020304" pitchFamily="18" charset="0"/>
                        </a:rPr>
                        <a:t>AlexNet</a:t>
                      </a:r>
                      <a:r>
                        <a:rPr lang="en-US" sz="1400" b="0" kern="1200" dirty="0">
                          <a:solidFill>
                            <a:schemeClr val="bg1"/>
                          </a:solidFill>
                          <a:effectLst/>
                          <a:latin typeface="Times New Roman" panose="02020603050405020304" pitchFamily="18" charset="0"/>
                          <a:ea typeface="+mn-ea"/>
                          <a:cs typeface="Times New Roman" panose="02020603050405020304" pitchFamily="18" charset="0"/>
                        </a:rPr>
                        <a:t> for Classification of Knee Osteoarthritis</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bg1"/>
                          </a:solidFill>
                          <a:effectLst/>
                          <a:latin typeface="Times New Roman" panose="02020603050405020304" pitchFamily="18" charset="0"/>
                          <a:ea typeface="+mn-ea"/>
                          <a:cs typeface="Times New Roman" panose="02020603050405020304" pitchFamily="18" charset="0"/>
                        </a:rPr>
                        <a:t>This project explores the use of the </a:t>
                      </a:r>
                      <a:r>
                        <a:rPr lang="en-US" sz="1400" b="0" kern="1200" dirty="0" err="1">
                          <a:solidFill>
                            <a:schemeClr val="bg1"/>
                          </a:solidFill>
                          <a:effectLst/>
                          <a:latin typeface="Times New Roman" panose="02020603050405020304" pitchFamily="18" charset="0"/>
                          <a:ea typeface="+mn-ea"/>
                          <a:cs typeface="Times New Roman" panose="02020603050405020304" pitchFamily="18" charset="0"/>
                        </a:rPr>
                        <a:t>AlexNet</a:t>
                      </a:r>
                      <a:r>
                        <a:rPr lang="en-US" sz="1400" b="0" kern="1200" dirty="0">
                          <a:solidFill>
                            <a:schemeClr val="bg1"/>
                          </a:solidFill>
                          <a:effectLst/>
                          <a:latin typeface="Times New Roman" panose="02020603050405020304" pitchFamily="18" charset="0"/>
                          <a:ea typeface="+mn-ea"/>
                          <a:cs typeface="Times New Roman" panose="02020603050405020304" pitchFamily="18" charset="0"/>
                        </a:rPr>
                        <a:t> model for classifying knee osteoarthritis (KOA) severity. By leveraging deep learning technology, the aim is to enhance diagnostic accuracy and reduce the pressure on clinicians. The project assesses the model's performance in comparison to other models, emphasizing the potential of artificial intelligence in improving KOA diagnosis.</a:t>
                      </a:r>
                    </a:p>
                  </a:txBody>
                  <a:tcPr/>
                </a:tc>
                <a:extLst>
                  <a:ext uri="{0D108BD9-81ED-4DB2-BD59-A6C34878D82A}">
                    <a16:rowId xmlns:a16="http://schemas.microsoft.com/office/drawing/2014/main" val="10001"/>
                  </a:ext>
                </a:extLst>
              </a:tr>
              <a:tr h="2368550">
                <a:tc>
                  <a:txBody>
                    <a:bodyPr/>
                    <a:lstStyle/>
                    <a:p>
                      <a:pPr algn="just">
                        <a:lnSpc>
                          <a:spcPct val="150000"/>
                        </a:lnSpc>
                      </a:pPr>
                      <a:r>
                        <a:rPr lang="en-US" sz="1600" dirty="0">
                          <a:latin typeface="Times New Roman" panose="02020603050405020304" pitchFamily="18" charset="0"/>
                          <a:cs typeface="Times New Roman" panose="02020603050405020304" pitchFamily="18" charset="0"/>
                        </a:rPr>
                        <a:t>2</a:t>
                      </a:r>
                    </a:p>
                  </a:txBody>
                  <a:tcPr/>
                </a:tc>
                <a:tc>
                  <a:txBody>
                    <a:bodyPr/>
                    <a:lstStyle/>
                    <a:p>
                      <a:pPr algn="just">
                        <a:lnSpc>
                          <a:spcPct val="150000"/>
                        </a:lnSpc>
                      </a:pPr>
                      <a:r>
                        <a:rPr lang="en-US" sz="1500" b="0" i="0" kern="1200" dirty="0">
                          <a:solidFill>
                            <a:schemeClr val="bg1"/>
                          </a:solidFill>
                          <a:effectLst/>
                          <a:latin typeface="Times New Roman" panose="02020603050405020304" pitchFamily="18" charset="0"/>
                          <a:ea typeface="+mn-ea"/>
                          <a:cs typeface="Times New Roman" panose="02020603050405020304" pitchFamily="18" charset="0"/>
                        </a:rPr>
                        <a:t>IOP journal, 2018</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err="1">
                          <a:solidFill>
                            <a:schemeClr val="bg1"/>
                          </a:solidFill>
                          <a:effectLst/>
                          <a:latin typeface="Times New Roman" panose="02020603050405020304" pitchFamily="18" charset="0"/>
                          <a:ea typeface="+mn-ea"/>
                          <a:cs typeface="Times New Roman" panose="02020603050405020304" pitchFamily="18" charset="0"/>
                        </a:rPr>
                        <a:t>Anifah</a:t>
                      </a:r>
                      <a:r>
                        <a:rPr lang="en-US" sz="1400" b="0" kern="1200" dirty="0">
                          <a:solidFill>
                            <a:schemeClr val="bg1"/>
                          </a:solidFill>
                          <a:effectLst/>
                          <a:latin typeface="Times New Roman" panose="02020603050405020304" pitchFamily="18" charset="0"/>
                          <a:ea typeface="+mn-ea"/>
                          <a:cs typeface="Times New Roman" panose="02020603050405020304" pitchFamily="18" charset="0"/>
                        </a:rPr>
                        <a:t>, L., Purnomo, M., </a:t>
                      </a:r>
                      <a:r>
                        <a:rPr lang="en-US" sz="1400" b="0" kern="1200" dirty="0" err="1">
                          <a:solidFill>
                            <a:schemeClr val="bg1"/>
                          </a:solidFill>
                          <a:effectLst/>
                          <a:latin typeface="Times New Roman" panose="02020603050405020304" pitchFamily="18" charset="0"/>
                          <a:ea typeface="+mn-ea"/>
                          <a:cs typeface="Times New Roman" panose="02020603050405020304" pitchFamily="18" charset="0"/>
                        </a:rPr>
                        <a:t>Mengko</a:t>
                      </a:r>
                      <a:r>
                        <a:rPr lang="en-US" sz="1400" b="0" kern="1200" dirty="0">
                          <a:solidFill>
                            <a:schemeClr val="bg1"/>
                          </a:solidFill>
                          <a:effectLst/>
                          <a:latin typeface="Times New Roman" panose="02020603050405020304" pitchFamily="18" charset="0"/>
                          <a:ea typeface="+mn-ea"/>
                          <a:cs typeface="Times New Roman" panose="02020603050405020304" pitchFamily="18" charset="0"/>
                        </a:rPr>
                        <a:t>, T., </a:t>
                      </a:r>
                      <a:r>
                        <a:rPr lang="en-US" sz="1400" b="0" kern="1200" dirty="0" err="1">
                          <a:solidFill>
                            <a:schemeClr val="bg1"/>
                          </a:solidFill>
                          <a:effectLst/>
                          <a:latin typeface="Times New Roman" panose="02020603050405020304" pitchFamily="18" charset="0"/>
                          <a:ea typeface="+mn-ea"/>
                          <a:cs typeface="Times New Roman" panose="02020603050405020304" pitchFamily="18" charset="0"/>
                        </a:rPr>
                        <a:t>Purnama</a:t>
                      </a:r>
                      <a:r>
                        <a:rPr lang="en-US" sz="1400" b="0" kern="1200" dirty="0">
                          <a:solidFill>
                            <a:schemeClr val="bg1"/>
                          </a:solidFill>
                          <a:effectLst/>
                          <a:latin typeface="Times New Roman" panose="02020603050405020304" pitchFamily="18" charset="0"/>
                          <a:ea typeface="+mn-ea"/>
                          <a:cs typeface="Times New Roman" panose="02020603050405020304" pitchFamily="18" charset="0"/>
                        </a:rPr>
                        <a:t>, I</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bg1"/>
                          </a:solidFill>
                          <a:effectLst/>
                          <a:latin typeface="Times New Roman" panose="02020603050405020304" pitchFamily="18" charset="0"/>
                          <a:ea typeface="+mn-ea"/>
                          <a:cs typeface="Times New Roman" panose="02020603050405020304" pitchFamily="18" charset="0"/>
                        </a:rPr>
                        <a:t>Osteoarthritis severity determination using self organizing map based Gabor kernel.</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bg1"/>
                          </a:solidFill>
                          <a:effectLst/>
                          <a:latin typeface="Times New Roman" panose="02020603050405020304" pitchFamily="18" charset="0"/>
                          <a:ea typeface="+mn-ea"/>
                          <a:cs typeface="Times New Roman" panose="02020603050405020304" pitchFamily="18" charset="0"/>
                        </a:rPr>
                        <a:t>This research utilizes a Gabor kernel-based x-ray image template to assess knee osteoarthritis severity in Indonesia. Through image processing, learning, and testing stages, the study achieves accuracy rates for different severity levels. Results show promise for the research to serve as a decision support system for medical practitioners in determining KL-Grade on x-ray images of knee osteoarthritis.</a:t>
                      </a:r>
                    </a:p>
                  </a:txBody>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302895"/>
            <a:ext cx="10353675" cy="915670"/>
          </a:xfrm>
        </p:spPr>
        <p:txBody>
          <a:bodyPr/>
          <a:lstStyle/>
          <a:p>
            <a:r>
              <a:rPr lang="en-US" dirty="0">
                <a:latin typeface="Times New Roman" panose="02020603050405020304" pitchFamily="18" charset="0"/>
                <a:cs typeface="Times New Roman" panose="02020603050405020304" pitchFamily="18" charset="0"/>
                <a:sym typeface="+mn-ea"/>
              </a:rPr>
              <a:t>LITERATURE SURVEY</a:t>
            </a:r>
            <a:endParaRPr lang="en-US"/>
          </a:p>
        </p:txBody>
      </p:sp>
      <p:graphicFrame>
        <p:nvGraphicFramePr>
          <p:cNvPr id="4" name="Content Placeholder 3"/>
          <p:cNvGraphicFramePr>
            <a:graphicFrameLocks noGrp="1"/>
          </p:cNvGraphicFramePr>
          <p:nvPr>
            <p:ph idx="1"/>
            <p:custDataLst>
              <p:tags r:id="rId1"/>
            </p:custDataLst>
          </p:nvPr>
        </p:nvGraphicFramePr>
        <p:xfrm>
          <a:off x="781685" y="1217930"/>
          <a:ext cx="10690225" cy="5241290"/>
        </p:xfrm>
        <a:graphic>
          <a:graphicData uri="http://schemas.openxmlformats.org/drawingml/2006/table">
            <a:tbl>
              <a:tblPr firstRow="1" bandRow="1">
                <a:tableStyleId>{5C22544A-7EE6-4342-B048-85BDC9FD1C3A}</a:tableStyleId>
              </a:tblPr>
              <a:tblGrid>
                <a:gridCol w="972820">
                  <a:extLst>
                    <a:ext uri="{9D8B030D-6E8A-4147-A177-3AD203B41FA5}">
                      <a16:colId xmlns:a16="http://schemas.microsoft.com/office/drawing/2014/main" val="20000"/>
                    </a:ext>
                  </a:extLst>
                </a:gridCol>
                <a:gridCol w="1514475">
                  <a:extLst>
                    <a:ext uri="{9D8B030D-6E8A-4147-A177-3AD203B41FA5}">
                      <a16:colId xmlns:a16="http://schemas.microsoft.com/office/drawing/2014/main" val="20001"/>
                    </a:ext>
                  </a:extLst>
                </a:gridCol>
                <a:gridCol w="1770380">
                  <a:extLst>
                    <a:ext uri="{9D8B030D-6E8A-4147-A177-3AD203B41FA5}">
                      <a16:colId xmlns:a16="http://schemas.microsoft.com/office/drawing/2014/main" val="20002"/>
                    </a:ext>
                  </a:extLst>
                </a:gridCol>
                <a:gridCol w="1898650">
                  <a:extLst>
                    <a:ext uri="{9D8B030D-6E8A-4147-A177-3AD203B41FA5}">
                      <a16:colId xmlns:a16="http://schemas.microsoft.com/office/drawing/2014/main" val="20003"/>
                    </a:ext>
                  </a:extLst>
                </a:gridCol>
                <a:gridCol w="4533900">
                  <a:extLst>
                    <a:ext uri="{9D8B030D-6E8A-4147-A177-3AD203B41FA5}">
                      <a16:colId xmlns:a16="http://schemas.microsoft.com/office/drawing/2014/main" val="20004"/>
                    </a:ext>
                  </a:extLst>
                </a:gridCol>
              </a:tblGrid>
              <a:tr h="412115">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2237105">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a:solidFill>
                            <a:schemeClr val="bg1"/>
                          </a:solidFill>
                          <a:effectLst/>
                          <a:latin typeface="Times New Roman" panose="02020603050405020304" pitchFamily="18" charset="0"/>
                          <a:ea typeface="+mn-ea"/>
                          <a:cs typeface="Times New Roman" panose="02020603050405020304" pitchFamily="18" charset="0"/>
                        </a:rPr>
                        <a:t>ICPR, 2016</a:t>
                      </a:r>
                    </a:p>
                    <a:p>
                      <a:pPr algn="just">
                        <a:lnSpc>
                          <a:spcPct val="150000"/>
                        </a:lnSpc>
                      </a:pPr>
                      <a:endParaRPr lang="en-US" sz="16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IN" sz="1400" dirty="0">
                          <a:solidFill>
                            <a:schemeClr val="bg1"/>
                          </a:solidFill>
                        </a:rPr>
                        <a:t>Antony, J., McGuinness, K., O’Connor, N.E., Moran, K</a:t>
                      </a:r>
                    </a:p>
                  </a:txBody>
                  <a:tcPr/>
                </a:tc>
                <a:tc>
                  <a:txBody>
                    <a:bodyPr/>
                    <a:lstStyle/>
                    <a:p>
                      <a:pPr algn="just">
                        <a:lnSpc>
                          <a:spcPct val="150000"/>
                        </a:lnSpc>
                      </a:pPr>
                      <a:r>
                        <a:rPr lang="en-US" sz="1400" b="0" kern="1200" dirty="0">
                          <a:solidFill>
                            <a:schemeClr val="bg1"/>
                          </a:solidFill>
                          <a:effectLst/>
                          <a:latin typeface="Times New Roman" panose="02020603050405020304" pitchFamily="18" charset="0"/>
                          <a:ea typeface="+mn-ea"/>
                          <a:cs typeface="Times New Roman" panose="02020603050405020304" pitchFamily="18" charset="0"/>
                        </a:rPr>
                        <a:t>Quantifying radiographic knee osteoarthritis severity using deep convolutional neural networks</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bg1"/>
                          </a:solidFill>
                          <a:effectLst/>
                          <a:latin typeface="Times New Roman" panose="02020603050405020304" pitchFamily="18" charset="0"/>
                          <a:ea typeface="+mn-ea"/>
                          <a:cs typeface="Times New Roman" panose="02020603050405020304" pitchFamily="18" charset="0"/>
                        </a:rPr>
                        <a:t>This paper introduces a superior method for automatically quantifying knee osteoarthritis (OA) severity, utilizing deep convolutional neural networks (CNN). The approach significantly enhances classification accuracy compared to traditional methods, showcasing notable progress on the Osteoarthritis Initiative (OAI) dataset.</a:t>
                      </a:r>
                    </a:p>
                  </a:txBody>
                  <a:tcPr/>
                </a:tc>
                <a:extLst>
                  <a:ext uri="{0D108BD9-81ED-4DB2-BD59-A6C34878D82A}">
                    <a16:rowId xmlns:a16="http://schemas.microsoft.com/office/drawing/2014/main" val="10001"/>
                  </a:ext>
                </a:extLst>
              </a:tr>
              <a:tr h="2592070">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4</a:t>
                      </a:r>
                    </a:p>
                  </a:txBody>
                  <a:tcPr/>
                </a:tc>
                <a:tc>
                  <a:txBody>
                    <a:bodyPr/>
                    <a:lstStyle/>
                    <a:p>
                      <a:pPr algn="just">
                        <a:lnSpc>
                          <a:spcPct val="150000"/>
                        </a:lnSpc>
                      </a:pPr>
                      <a:r>
                        <a:rPr lang="en-US" sz="1600" b="0" i="0" kern="1200" dirty="0">
                          <a:solidFill>
                            <a:schemeClr val="bg1"/>
                          </a:solidFill>
                          <a:effectLst/>
                          <a:latin typeface="Times New Roman" panose="02020603050405020304" pitchFamily="18" charset="0"/>
                          <a:ea typeface="+mn-ea"/>
                          <a:cs typeface="Times New Roman" panose="02020603050405020304" pitchFamily="18" charset="0"/>
                        </a:rPr>
                        <a:t> IEEE, 2013</a:t>
                      </a:r>
                    </a:p>
                    <a:p>
                      <a:pPr algn="just">
                        <a:lnSpc>
                          <a:spcPct val="150000"/>
                        </a:lnSpc>
                      </a:pPr>
                      <a:endParaRPr lang="en-US" sz="1600" b="0" i="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fi-FI" sz="1400" b="0" kern="1200" dirty="0">
                          <a:solidFill>
                            <a:schemeClr val="bg1"/>
                          </a:solidFill>
                          <a:effectLst/>
                          <a:latin typeface="Times New Roman" panose="02020603050405020304" pitchFamily="18" charset="0"/>
                          <a:ea typeface="+mn-ea"/>
                          <a:cs typeface="Times New Roman" panose="02020603050405020304" pitchFamily="18" charset="0"/>
                        </a:rPr>
                        <a:t>He, K., Sun, J., Tang, X</a:t>
                      </a:r>
                    </a:p>
                  </a:txBody>
                  <a:tcPr/>
                </a:tc>
                <a:tc>
                  <a:txBody>
                    <a:bodyPr/>
                    <a:lstStyle/>
                    <a:p>
                      <a:pPr algn="just">
                        <a:lnSpc>
                          <a:spcPct val="150000"/>
                        </a:lnSpc>
                      </a:pPr>
                      <a:r>
                        <a:rPr lang="en-US" sz="1400" b="0" kern="1200">
                          <a:solidFill>
                            <a:schemeClr val="bg1"/>
                          </a:solidFill>
                          <a:effectLst/>
                          <a:latin typeface="Times New Roman" panose="02020603050405020304" pitchFamily="18" charset="0"/>
                          <a:ea typeface="+mn-ea"/>
                          <a:cs typeface="Times New Roman" panose="02020603050405020304" pitchFamily="18" charset="0"/>
                        </a:rPr>
                        <a:t>Labeled Optical Coherence Tomography (OCT) and Chest X-ray Images for Classification</a:t>
                      </a:r>
                      <a:endParaRPr lang="en-US" sz="1400" b="0" kern="1200" dirty="0">
                        <a:solidFill>
                          <a:schemeClr val="bg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bg1"/>
                          </a:solidFill>
                          <a:effectLst/>
                          <a:latin typeface="Times New Roman" panose="02020603050405020304" pitchFamily="18" charset="0"/>
                          <a:ea typeface="+mn-ea"/>
                          <a:cs typeface="Times New Roman" panose="02020603050405020304" pitchFamily="18" charset="0"/>
                        </a:rPr>
                        <a:t>The dataset in "Deep learning-based classification and referral of treatable human diseases" includes validated OCT and Chest X-Ray images. OCT images are split into training and testing sets, labeled by disease type, randomized patient ID, and image number. This dataset is essential for the study's deep learning-based classification and referral of treatable human diseases.</a:t>
                      </a:r>
                    </a:p>
                  </a:txBody>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316865"/>
            <a:ext cx="10353675" cy="1165225"/>
          </a:xfrm>
        </p:spPr>
        <p:txBody>
          <a:bodyPr/>
          <a:lstStyle/>
          <a:p>
            <a:r>
              <a:rPr lang="en-US" altLang="en-US"/>
              <a:t>EXISTING SYSTEM</a:t>
            </a:r>
          </a:p>
        </p:txBody>
      </p:sp>
      <p:sp>
        <p:nvSpPr>
          <p:cNvPr id="3" name="Content Placeholder 2"/>
          <p:cNvSpPr>
            <a:spLocks noGrp="1"/>
          </p:cNvSpPr>
          <p:nvPr>
            <p:ph idx="1"/>
          </p:nvPr>
        </p:nvSpPr>
        <p:spPr>
          <a:xfrm>
            <a:off x="192405" y="1716405"/>
            <a:ext cx="11675110" cy="4521200"/>
          </a:xfrm>
        </p:spPr>
        <p:txBody>
          <a:bodyPr>
            <a:noAutofit/>
          </a:bodyPr>
          <a:lstStyle/>
          <a:p>
            <a:pPr marL="0" indent="0" algn="just">
              <a:lnSpc>
                <a:spcPct val="100000"/>
              </a:lnSpc>
              <a:buNone/>
            </a:pPr>
            <a:r>
              <a:rPr lang="en-US" altLang="en-US" sz="1900" dirty="0"/>
              <a:t>The existing system for detecting Knee Osteoarthritis mainly relies on manual analysis of knee X-ray images by radiologists. Doctors evaluate the images using standard grading methods like the Kellgren–Lawrence scale, but this process is subjective and depends on the experience of the medical professional, which can lead to inconsistent results. It is also time-consuming and difficult to handle large numbers of patients.</a:t>
            </a:r>
          </a:p>
          <a:p>
            <a:pPr marL="0" indent="0" algn="just">
              <a:lnSpc>
                <a:spcPct val="100000"/>
              </a:lnSpc>
              <a:buNone/>
            </a:pPr>
            <a:r>
              <a:rPr lang="en-US" altLang="en-US" sz="1900" dirty="0"/>
              <a:t>To overcome manual limitations, traditional machine learning methods such as Support Vector Machine (SVM), K-Nearest Neighbors (KNN), and Random Forest have been used. However, these methods require manual feature extraction, where important features like texture, shape, and pixel intensity must be identified by experts. This makes the process complex, less flexible, and dependent on human knowledge. These models also struggle to detect subtle patterns in early-stage osteoarthritis, resulting in lower accuracy and poor generalization.</a:t>
            </a:r>
          </a:p>
          <a:p>
            <a:pPr marL="0" indent="0" algn="just">
              <a:lnSpc>
                <a:spcPct val="100000"/>
              </a:lnSpc>
              <a:buNone/>
            </a:pPr>
            <a:r>
              <a:rPr lang="en-US" altLang="en-US" sz="1900" dirty="0"/>
              <a:t>In some cases, basic Convolutional Neural Networks (CNNs) are used, but relying on a single model limits performance. Such models may fail in borderline cases and cannot capture all types of features effectively. Overall, the existing system lacks full automation, scalability, consistency, and high accuracy, making it less reliable for early and large-scale diagnosis.</a:t>
            </a:r>
          </a:p>
        </p:txBody>
      </p:sp>
    </p:spTree>
  </p:cSld>
  <p:clrMapOvr>
    <a:masterClrMapping/>
  </p:clrMapOvr>
  <p:transition spd="med">
    <p:newsfla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B3235-E4C7-7492-0180-74D716D11151}"/>
              </a:ext>
            </a:extLst>
          </p:cNvPr>
          <p:cNvSpPr>
            <a:spLocks noGrp="1"/>
          </p:cNvSpPr>
          <p:nvPr>
            <p:ph type="title"/>
          </p:nvPr>
        </p:nvSpPr>
        <p:spPr>
          <a:xfrm>
            <a:off x="520505" y="226142"/>
            <a:ext cx="4307134" cy="580104"/>
          </a:xfrm>
        </p:spPr>
        <p:txBody>
          <a:bodyPr/>
          <a:lstStyle/>
          <a:p>
            <a:r>
              <a:rPr lang="en-US" dirty="0"/>
              <a:t>DISADVANTAGES</a:t>
            </a:r>
            <a:endParaRPr lang="en-IN" dirty="0"/>
          </a:p>
        </p:txBody>
      </p:sp>
      <p:sp>
        <p:nvSpPr>
          <p:cNvPr id="5" name="Rectangle 2">
            <a:extLst>
              <a:ext uri="{FF2B5EF4-FFF2-40B4-BE49-F238E27FC236}">
                <a16:creationId xmlns:a16="http://schemas.microsoft.com/office/drawing/2014/main" id="{6F3B5B5C-7656-2968-D448-3362D7CB1967}"/>
              </a:ext>
            </a:extLst>
          </p:cNvPr>
          <p:cNvSpPr>
            <a:spLocks noGrp="1" noChangeArrowheads="1"/>
          </p:cNvSpPr>
          <p:nvPr>
            <p:ph idx="1"/>
          </p:nvPr>
        </p:nvSpPr>
        <p:spPr bwMode="auto">
          <a:xfrm>
            <a:off x="520505" y="984158"/>
            <a:ext cx="10363506" cy="5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process:</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analysis of knee X-ray images by radiologists takes more time, especially when handling a large number of patients.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Subjective results:</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diagnosis depends on the doctor’s experience and judgment, which may lead to inconsistent or varying results.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feature extraction:</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machine learning techniques require experts to manually extract features such as texture, shape, and intensity, making the process complex and dependent on human knowledge.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Lower accuracy:</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Methods like SVM, KNN, and Random Forest may not capture complex patterns in medical images, resulting in reduced accuracy.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model limitations:</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Basic CNN models using only one architecture may not extract all important features effectively, reducing performance in complex cases.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full automation:</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existing system still requires significant human involvement, making it less efficient and less reliable. </a:t>
            </a:r>
          </a:p>
        </p:txBody>
      </p:sp>
    </p:spTree>
    <p:extLst>
      <p:ext uri="{BB962C8B-B14F-4D97-AF65-F5344CB8AC3E}">
        <p14:creationId xmlns:p14="http://schemas.microsoft.com/office/powerpoint/2010/main" val="18165006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375285"/>
            <a:ext cx="10353675" cy="959485"/>
          </a:xfrm>
        </p:spPr>
        <p:txBody>
          <a:bodyPr/>
          <a:lstStyle/>
          <a:p>
            <a:r>
              <a:rPr lang="en-US" altLang="en-IN" b="1"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913765" y="1173480"/>
            <a:ext cx="10353675" cy="5100955"/>
          </a:xfrm>
        </p:spPr>
        <p:txBody>
          <a:bodyPr>
            <a:normAutofit fontScale="97500" lnSpcReduction="10000"/>
          </a:bodyPr>
          <a:lstStyle/>
          <a:p>
            <a:pPr marL="0" indent="0">
              <a:lnSpc>
                <a:spcPct val="15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The proposed system is an automated Knee Osteoarthritis (KOA) detection framework based on deep learning techniques. It utilizes an ensemble Convolutional Neural Network (CNN) model combining AlexNet, MobileNet, and ResNet architectures to improve classification accuracy and robustness.</a:t>
            </a:r>
          </a:p>
          <a:p>
            <a:pPr marL="0" indent="0">
              <a:lnSpc>
                <a:spcPct val="15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The process begins with collecting knee X-ray images from a standard dataset. Image preprocessing techniques such as resizing, normalization, and noise removal are applied to enhance image quality and ensure consistency. The preprocessed images are then fed into the ensemble CNN model.</a:t>
            </a:r>
          </a:p>
          <a:p>
            <a:pPr marL="0" indent="0">
              <a:lnSpc>
                <a:spcPct val="15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Each architecture—AlexNet, MobileNet, and ResNet—extracts deep features from the input images, and these features are combined to improve overall performance. The model is trained using transfer learning and optimized using performance metrics such as accuracy and loss.</a:t>
            </a:r>
          </a:p>
          <a:p>
            <a:pPr marL="0" indent="0">
              <a:lnSpc>
                <a:spcPct val="15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Finally, the system classifies knee X-ray images into different severity levels (Normal, Doubtful, Mild, Moderate, Severe). The proposed system provides fast, accurate, and reliable results, assisting medical professionals in early diagnosis and effective decision-making.</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4A4CB-B192-E4B6-68A8-01B348F22D7E}"/>
              </a:ext>
            </a:extLst>
          </p:cNvPr>
          <p:cNvSpPr>
            <a:spLocks noGrp="1"/>
          </p:cNvSpPr>
          <p:nvPr>
            <p:ph type="title"/>
          </p:nvPr>
        </p:nvSpPr>
        <p:spPr>
          <a:xfrm>
            <a:off x="992453" y="1111047"/>
            <a:ext cx="3491057" cy="550606"/>
          </a:xfrm>
        </p:spPr>
        <p:txBody>
          <a:bodyPr>
            <a:normAutofit fontScale="90000"/>
          </a:bodyPr>
          <a:lstStyle/>
          <a:p>
            <a:r>
              <a:rPr lang="en-US" dirty="0"/>
              <a:t>ADVANTAGES</a:t>
            </a:r>
            <a:endParaRPr lang="en-IN" dirty="0"/>
          </a:p>
        </p:txBody>
      </p:sp>
      <p:sp>
        <p:nvSpPr>
          <p:cNvPr id="4" name="Rectangle 1">
            <a:extLst>
              <a:ext uri="{FF2B5EF4-FFF2-40B4-BE49-F238E27FC236}">
                <a16:creationId xmlns:a16="http://schemas.microsoft.com/office/drawing/2014/main" id="{418D6C99-5D45-4146-9985-B42F5355294A}"/>
              </a:ext>
            </a:extLst>
          </p:cNvPr>
          <p:cNvSpPr>
            <a:spLocks noGrp="1" noChangeArrowheads="1"/>
          </p:cNvSpPr>
          <p:nvPr>
            <p:ph idx="1"/>
          </p:nvPr>
        </p:nvSpPr>
        <p:spPr bwMode="auto">
          <a:xfrm>
            <a:off x="913795" y="2289333"/>
            <a:ext cx="10255650"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accuracy</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due to the use of an ensemble CNN model (</a:t>
            </a:r>
            <a:r>
              <a:rPr kumimoji="0" lang="en-US" altLang="en-US" sz="19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AlexNet</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9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MobileNet</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9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ResNet</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Fully automated system</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reducing manual work for doctors.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diagnosis</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saves time in analyzing knee X-ray images.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early detection</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Knee Osteoarthritis stages.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reliability and consistency</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compared to manual analysis.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feature extraction</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in identifying complex image patterns. </a:t>
            </a:r>
          </a:p>
        </p:txBody>
      </p:sp>
    </p:spTree>
    <p:extLst>
      <p:ext uri="{BB962C8B-B14F-4D97-AF65-F5344CB8AC3E}">
        <p14:creationId xmlns:p14="http://schemas.microsoft.com/office/powerpoint/2010/main" val="57591554"/>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140970"/>
            <a:ext cx="10353675" cy="1092835"/>
          </a:xfrm>
        </p:spPr>
        <p:txBody>
          <a:bodyPr/>
          <a:lstStyle/>
          <a:p>
            <a:r>
              <a:rPr lang="en-US" altLang="en-US" b="1" dirty="0">
                <a:latin typeface="Times New Roman" panose="02020603050405020304" pitchFamily="18" charset="0"/>
                <a:cs typeface="Times New Roman" panose="02020603050405020304" pitchFamily="18" charset="0"/>
              </a:rPr>
              <a:t>Architecture</a:t>
            </a:r>
          </a:p>
        </p:txBody>
      </p:sp>
      <p:pic>
        <p:nvPicPr>
          <p:cNvPr id="5" name="Content Placeholder 4">
            <a:extLst>
              <a:ext uri="{FF2B5EF4-FFF2-40B4-BE49-F238E27FC236}">
                <a16:creationId xmlns:a16="http://schemas.microsoft.com/office/drawing/2014/main" id="{D7C132CE-27A1-85FB-E31E-3D4DDE52B07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732886" y="1328184"/>
            <a:ext cx="6715432" cy="5082449"/>
          </a:xfrm>
          <a:prstGeom prst="rect">
            <a:avLst/>
          </a:prstGeom>
        </p:spPr>
      </p:pic>
    </p:spTree>
  </p:cSld>
  <p:clrMapOvr>
    <a:masterClrMapping/>
  </p:clrMapOvr>
  <p:transition spd="med">
    <p:newsfla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2"/>
          </p:nvPr>
        </p:nvPicPr>
        <p:blipFill>
          <a:blip r:embed="rId2"/>
          <a:stretch>
            <a:fillRect/>
          </a:stretch>
        </p:blipFill>
        <p:spPr>
          <a:xfrm>
            <a:off x="6538452" y="723293"/>
            <a:ext cx="5299587" cy="5822520"/>
          </a:xfrm>
          <a:prstGeom prst="rect">
            <a:avLst/>
          </a:prstGeom>
        </p:spPr>
      </p:pic>
      <p:sp>
        <p:nvSpPr>
          <p:cNvPr id="2" name="TextBox 1">
            <a:extLst>
              <a:ext uri="{FF2B5EF4-FFF2-40B4-BE49-F238E27FC236}">
                <a16:creationId xmlns:a16="http://schemas.microsoft.com/office/drawing/2014/main" id="{7C8BD0A2-F476-478F-59B6-C14E06267C06}"/>
              </a:ext>
            </a:extLst>
          </p:cNvPr>
          <p:cNvSpPr txBox="1"/>
          <p:nvPr/>
        </p:nvSpPr>
        <p:spPr>
          <a:xfrm>
            <a:off x="353961" y="353961"/>
            <a:ext cx="1787669" cy="384721"/>
          </a:xfrm>
          <a:prstGeom prst="rect">
            <a:avLst/>
          </a:prstGeom>
          <a:noFill/>
        </p:spPr>
        <p:txBody>
          <a:bodyPr wrap="none" rtlCol="0">
            <a:spAutoFit/>
          </a:bodyPr>
          <a:lstStyle/>
          <a:p>
            <a:r>
              <a:rPr lang="en-US" sz="1900" b="1" dirty="0">
                <a:latin typeface="Times New Roman" panose="02020603050405020304" pitchFamily="18" charset="0"/>
                <a:cs typeface="Times New Roman" panose="02020603050405020304" pitchFamily="18" charset="0"/>
              </a:rPr>
              <a:t>WORK FLOW</a:t>
            </a:r>
            <a:endParaRPr lang="en-IN" sz="19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19ADE27-0105-C870-9E7C-AC65D1709A3D}"/>
              </a:ext>
            </a:extLst>
          </p:cNvPr>
          <p:cNvSpPr txBox="1"/>
          <p:nvPr/>
        </p:nvSpPr>
        <p:spPr>
          <a:xfrm>
            <a:off x="353961" y="825911"/>
            <a:ext cx="8790039" cy="6247864"/>
          </a:xfrm>
          <a:prstGeom prst="rect">
            <a:avLst/>
          </a:prstGeom>
          <a:noFill/>
        </p:spPr>
        <p:txBody>
          <a:bodyPr wrap="square">
            <a:spAutoFit/>
          </a:bodyPr>
          <a:lstStyle/>
          <a:p>
            <a:pPr algn="just">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1. Importing the packages</a:t>
            </a: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pPr algn="just">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2. Exploring the dataset </a:t>
            </a: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pPr>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 	-  KOA X-Ray Images</a:t>
            </a: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pPr algn="just">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3. Image processing</a:t>
            </a: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pPr algn="just">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  	- Re-scaling the Image</a:t>
            </a: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pPr algn="just">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  	- Zooming the Image</a:t>
            </a: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pPr algn="just">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 	 - Horizontal Flip </a:t>
            </a: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pPr algn="just">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 	 - Reshaping the Image </a:t>
            </a: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pPr algn="just">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4. Building the model</a:t>
            </a: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pPr algn="just">
              <a:lnSpc>
                <a:spcPct val="150000"/>
              </a:lnSpc>
            </a:pPr>
            <a:r>
              <a:rPr lang="en-US"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rPr>
              <a:t>5. Training the model</a:t>
            </a:r>
          </a:p>
          <a:p>
            <a:pPr algn="just">
              <a:lnSpc>
                <a:spcPct val="150000"/>
              </a:lnSpc>
            </a:pPr>
            <a:r>
              <a:rPr lang="en-US" sz="1600" dirty="0">
                <a:latin typeface="Times New Roman" panose="02020603050405020304" pitchFamily="18" charset="0"/>
                <a:cs typeface="Times New Roman" panose="02020603050405020304" pitchFamily="18" charset="0"/>
              </a:rPr>
              <a:t>6.Flask Framework with </a:t>
            </a:r>
            <a:r>
              <a:rPr lang="en-US" sz="1600" dirty="0" err="1">
                <a:latin typeface="Times New Roman" panose="02020603050405020304" pitchFamily="18" charset="0"/>
                <a:cs typeface="Times New Roman" panose="02020603050405020304" pitchFamily="18" charset="0"/>
              </a:rPr>
              <a:t>MySql</a:t>
            </a:r>
            <a:r>
              <a:rPr lang="en-US" sz="1600" dirty="0">
                <a:latin typeface="Times New Roman" panose="02020603050405020304" pitchFamily="18" charset="0"/>
                <a:cs typeface="Times New Roman" panose="02020603050405020304" pitchFamily="18" charset="0"/>
              </a:rPr>
              <a:t> for signup and </a:t>
            </a:r>
            <a:r>
              <a:rPr lang="en-US" sz="1600" dirty="0" err="1">
                <a:latin typeface="Times New Roman" panose="02020603050405020304" pitchFamily="18" charset="0"/>
                <a:cs typeface="Times New Roman" panose="02020603050405020304" pitchFamily="18" charset="0"/>
              </a:rPr>
              <a:t>signin</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7. User Upload an image for analysis</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8. The given input is preprocessed </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9. The trained model is used for predicting the result</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10. Final Outcome is displayed.</a:t>
            </a:r>
            <a:endParaRPr lang="en-IN" sz="1600" dirty="0">
              <a:latin typeface="Times New Roman" panose="02020603050405020304" pitchFamily="18" charset="0"/>
              <a:cs typeface="Times New Roman" panose="02020603050405020304" pitchFamily="18" charset="0"/>
            </a:endParaRPr>
          </a:p>
          <a:p>
            <a:pPr algn="just">
              <a:lnSpc>
                <a:spcPct val="150000"/>
              </a:lnSpc>
            </a:pPr>
            <a:endParaRPr lang="en-IN" sz="1600" dirty="0">
              <a:solidFill>
                <a:schemeClr val="tx1"/>
              </a:solidFill>
              <a:latin typeface="Times New Roman" panose="02020603050405020304" pitchFamily="18" charset="0"/>
              <a:ea typeface="Arial Unicode MS" panose="020B0604020202020204" pitchFamily="34" charset="-128"/>
              <a:cs typeface="Times New Roman" panose="02020603050405020304" pitchFamily="18" charset="0"/>
            </a:endParaRPr>
          </a:p>
          <a:p>
            <a:endParaRPr lang="en-IN" sz="1600" dirty="0"/>
          </a:p>
        </p:txBody>
      </p:sp>
    </p:spTree>
  </p:cSld>
  <p:clrMapOvr>
    <a:masterClrMapping/>
  </p:clrMapOvr>
  <p:transition spd="med">
    <p:newsfla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96520"/>
            <a:ext cx="10353675" cy="1094740"/>
          </a:xfrm>
        </p:spPr>
        <p:txBody>
          <a:bodyPr/>
          <a:lstStyle/>
          <a:p>
            <a:r>
              <a:rPr lang="en-US"/>
              <a:t>MODULES</a:t>
            </a:r>
          </a:p>
        </p:txBody>
      </p:sp>
      <p:graphicFrame>
        <p:nvGraphicFramePr>
          <p:cNvPr id="4" name="Content Placeholder 3"/>
          <p:cNvGraphicFramePr>
            <a:graphicFrameLocks noGrp="1"/>
          </p:cNvGraphicFramePr>
          <p:nvPr>
            <p:ph sz="half" idx="2"/>
            <p:custDataLst>
              <p:tags r:id="rId1"/>
            </p:custDataLst>
            <p:extLst>
              <p:ext uri="{D42A27DB-BD31-4B8C-83A1-F6EECF244321}">
                <p14:modId xmlns:p14="http://schemas.microsoft.com/office/powerpoint/2010/main" val="1963745735"/>
              </p:ext>
            </p:extLst>
          </p:nvPr>
        </p:nvGraphicFramePr>
        <p:xfrm>
          <a:off x="501650" y="1978660"/>
          <a:ext cx="10765790" cy="4702810"/>
        </p:xfrm>
        <a:graphic>
          <a:graphicData uri="http://schemas.openxmlformats.org/drawingml/2006/table">
            <a:tbl>
              <a:tblPr/>
              <a:tblGrid>
                <a:gridCol w="3902710">
                  <a:extLst>
                    <a:ext uri="{9D8B030D-6E8A-4147-A177-3AD203B41FA5}">
                      <a16:colId xmlns:a16="http://schemas.microsoft.com/office/drawing/2014/main" val="20000"/>
                    </a:ext>
                  </a:extLst>
                </a:gridCol>
                <a:gridCol w="6863080">
                  <a:extLst>
                    <a:ext uri="{9D8B030D-6E8A-4147-A177-3AD203B41FA5}">
                      <a16:colId xmlns:a16="http://schemas.microsoft.com/office/drawing/2014/main" val="20001"/>
                    </a:ext>
                  </a:extLst>
                </a:gridCol>
              </a:tblGrid>
              <a:tr h="423545">
                <a:tc>
                  <a:txBody>
                    <a:bodyPr/>
                    <a:lstStyle/>
                    <a:p>
                      <a:pPr algn="ctr"/>
                      <a:r>
                        <a:rPr sz="1500" b="1">
                          <a:latin typeface="Times New Roman" panose="02020603050405020304" pitchFamily="18" charset="0"/>
                          <a:cs typeface="Times New Roman" panose="02020603050405020304" pitchFamily="18" charset="0"/>
                        </a:rPr>
                        <a:t>Module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500" b="1">
                          <a:latin typeface="Times New Roman" panose="02020603050405020304" pitchFamily="18" charset="0"/>
                          <a:cs typeface="Times New Roman" panose="02020603050405020304" pitchFamily="18" charset="0"/>
                        </a:rPr>
                        <a:t>Description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1198880">
                <a:tc>
                  <a:txBody>
                    <a:bodyPr/>
                    <a:lstStyle/>
                    <a:p>
                      <a:pPr algn="ctr"/>
                      <a:r>
                        <a:rPr sz="1500" dirty="0">
                          <a:latin typeface="Times New Roman" panose="02020603050405020304" pitchFamily="18" charset="0"/>
                          <a:cs typeface="Times New Roman" panose="02020603050405020304" pitchFamily="18" charset="0"/>
                        </a:rPr>
                        <a:t>Create Dataset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500">
                          <a:latin typeface="Times New Roman" panose="02020603050405020304" pitchFamily="18" charset="0"/>
                          <a:cs typeface="Times New Roman" panose="02020603050405020304" pitchFamily="18" charset="0"/>
                        </a:rPr>
                        <a:t>The knee X-ray image dataset is collected from standard sources and divided into training and testing sets (70–80% training and 20–30% testing). This split helps in training the model effectively and evaluating its performance on unseen data.</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1026160">
                <a:tc>
                  <a:txBody>
                    <a:bodyPr/>
                    <a:lstStyle/>
                    <a:p>
                      <a:pPr algn="ctr"/>
                      <a:r>
                        <a:rPr sz="1500">
                          <a:latin typeface="Times New Roman" panose="02020603050405020304" pitchFamily="18" charset="0"/>
                          <a:cs typeface="Times New Roman" panose="02020603050405020304" pitchFamily="18" charset="0"/>
                        </a:rPr>
                        <a:t>Pre-processing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500">
                          <a:latin typeface="Times New Roman" panose="02020603050405020304" pitchFamily="18" charset="0"/>
                          <a:cs typeface="Times New Roman" panose="02020603050405020304" pitchFamily="18" charset="0"/>
                        </a:rPr>
                        <a:t>The input images are resized to a fixed size, normalized, and cleaned to remove noise. This step ensures consistency in image format and improves the quality of data for better model performance.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1198880">
                <a:tc>
                  <a:txBody>
                    <a:bodyPr/>
                    <a:lstStyle/>
                    <a:p>
                      <a:pPr algn="ctr"/>
                      <a:r>
                        <a:rPr sz="1500">
                          <a:latin typeface="Times New Roman" panose="02020603050405020304" pitchFamily="18" charset="0"/>
                          <a:cs typeface="Times New Roman" panose="02020603050405020304" pitchFamily="18" charset="0"/>
                        </a:rPr>
                        <a:t>Training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500">
                          <a:latin typeface="Times New Roman" panose="02020603050405020304" pitchFamily="18" charset="0"/>
                          <a:cs typeface="Times New Roman" panose="02020603050405020304" pitchFamily="18" charset="0"/>
                        </a:rPr>
                        <a:t>The preprocessed training dataset is used to train the deep learning models. Techniques like transfer learning are applied using architectures such as AlexNet, MobileNet, and ResNet to improve learning efficiency and accuracy.</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855345">
                <a:tc>
                  <a:txBody>
                    <a:bodyPr/>
                    <a:lstStyle/>
                    <a:p>
                      <a:pPr algn="ctr"/>
                      <a:r>
                        <a:rPr sz="1500">
                          <a:latin typeface="Times New Roman" panose="02020603050405020304" pitchFamily="18" charset="0"/>
                          <a:cs typeface="Times New Roman" panose="02020603050405020304" pitchFamily="18" charset="0"/>
                        </a:rPr>
                        <a:t>Classification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sz="1500" dirty="0">
                          <a:latin typeface="Times New Roman" panose="02020603050405020304" pitchFamily="18" charset="0"/>
                          <a:cs typeface="Times New Roman" panose="02020603050405020304" pitchFamily="18" charset="0"/>
                        </a:rPr>
                        <a:t>The trained model analyzes the input X-ray images and classifies them into different osteoarthritis severity levels such as Normal, Mild, Moderate, and Severe based on learned features.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bl>
          </a:graphicData>
        </a:graphic>
      </p:graphicFrame>
      <p:sp>
        <p:nvSpPr>
          <p:cNvPr id="7" name="Text Box 6"/>
          <p:cNvSpPr txBox="1"/>
          <p:nvPr/>
        </p:nvSpPr>
        <p:spPr>
          <a:xfrm>
            <a:off x="541655" y="1113155"/>
            <a:ext cx="3912870" cy="426085"/>
          </a:xfrm>
          <a:prstGeom prst="rect">
            <a:avLst/>
          </a:prstGeom>
          <a:noFill/>
        </p:spPr>
        <p:txBody>
          <a:bodyPr wrap="square" rtlCol="0">
            <a:noAutofit/>
          </a:bodyPr>
          <a:lstStyle/>
          <a:p>
            <a:r>
              <a:rPr lang="en-US" altLang="en-US" b="1"/>
              <a:t>System Modules</a:t>
            </a:r>
          </a:p>
        </p:txBody>
      </p:sp>
    </p:spTree>
  </p:cSld>
  <p:clrMapOvr>
    <a:masterClrMapping/>
  </p:clrMapOvr>
  <p:transition spd="slow">
    <p:wedg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0020" y="247650"/>
            <a:ext cx="5106035" cy="948055"/>
          </a:xfrm>
        </p:spPr>
        <p:txBody>
          <a:bodyPr/>
          <a:lstStyle/>
          <a:p>
            <a:pPr marL="0" indent="0">
              <a:buNone/>
            </a:pPr>
            <a:r>
              <a:rPr lang="en-US" altLang="en-US"/>
              <a:t>User Modules</a:t>
            </a:r>
          </a:p>
        </p:txBody>
      </p:sp>
      <p:graphicFrame>
        <p:nvGraphicFramePr>
          <p:cNvPr id="6" name="Content Placeholder 5"/>
          <p:cNvGraphicFramePr>
            <a:graphicFrameLocks noGrp="1"/>
          </p:cNvGraphicFramePr>
          <p:nvPr>
            <p:ph sz="half" idx="2"/>
            <p:custDataLst>
              <p:tags r:id="rId1"/>
            </p:custDataLst>
            <p:extLst>
              <p:ext uri="{D42A27DB-BD31-4B8C-83A1-F6EECF244321}">
                <p14:modId xmlns:p14="http://schemas.microsoft.com/office/powerpoint/2010/main" val="278991313"/>
              </p:ext>
            </p:extLst>
          </p:nvPr>
        </p:nvGraphicFramePr>
        <p:xfrm>
          <a:off x="371475" y="1195705"/>
          <a:ext cx="10895965" cy="5145405"/>
        </p:xfrm>
        <a:graphic>
          <a:graphicData uri="http://schemas.openxmlformats.org/drawingml/2006/table">
            <a:tbl>
              <a:tblPr/>
              <a:tblGrid>
                <a:gridCol w="4063365">
                  <a:extLst>
                    <a:ext uri="{9D8B030D-6E8A-4147-A177-3AD203B41FA5}">
                      <a16:colId xmlns:a16="http://schemas.microsoft.com/office/drawing/2014/main" val="20000"/>
                    </a:ext>
                  </a:extLst>
                </a:gridCol>
                <a:gridCol w="6832600">
                  <a:extLst>
                    <a:ext uri="{9D8B030D-6E8A-4147-A177-3AD203B41FA5}">
                      <a16:colId xmlns:a16="http://schemas.microsoft.com/office/drawing/2014/main" val="20001"/>
                    </a:ext>
                  </a:extLst>
                </a:gridCol>
              </a:tblGrid>
              <a:tr h="454025">
                <a:tc>
                  <a:txBody>
                    <a:bodyPr/>
                    <a:lstStyle/>
                    <a:p>
                      <a:r>
                        <a:rPr sz="1500" b="1">
                          <a:latin typeface="Times New Roman" panose="02020603050405020304" pitchFamily="18" charset="0"/>
                          <a:cs typeface="Times New Roman" panose="02020603050405020304" pitchFamily="18" charset="0"/>
                        </a:rPr>
                        <a:t>Module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500" b="1">
                          <a:latin typeface="Times New Roman" panose="02020603050405020304" pitchFamily="18" charset="0"/>
                          <a:cs typeface="Times New Roman" panose="02020603050405020304" pitchFamily="18" charset="0"/>
                        </a:rPr>
                        <a:t>Description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1173480">
                <a:tc>
                  <a:txBody>
                    <a:bodyPr/>
                    <a:lstStyle/>
                    <a:p>
                      <a:r>
                        <a:rPr sz="1500" dirty="0">
                          <a:latin typeface="Times New Roman" panose="02020603050405020304" pitchFamily="18" charset="0"/>
                          <a:cs typeface="Times New Roman" panose="02020603050405020304" pitchFamily="18" charset="0"/>
                        </a:rPr>
                        <a:t>User Registration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500">
                          <a:latin typeface="Times New Roman" panose="02020603050405020304" pitchFamily="18" charset="0"/>
                          <a:cs typeface="Times New Roman" panose="02020603050405020304" pitchFamily="18" charset="0"/>
                        </a:rPr>
                        <a:t>New users can create an account by providing details such as name, email, password, and contact number. The system securely stores this information in the database.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937260">
                <a:tc>
                  <a:txBody>
                    <a:bodyPr/>
                    <a:lstStyle/>
                    <a:p>
                      <a:r>
                        <a:rPr sz="1500" dirty="0">
                          <a:latin typeface="Times New Roman" panose="02020603050405020304" pitchFamily="18" charset="0"/>
                          <a:cs typeface="Times New Roman" panose="02020603050405020304" pitchFamily="18" charset="0"/>
                        </a:rPr>
                        <a:t>User Login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500">
                          <a:latin typeface="Times New Roman" panose="02020603050405020304" pitchFamily="18" charset="0"/>
                          <a:cs typeface="Times New Roman" panose="02020603050405020304" pitchFamily="18" charset="0"/>
                        </a:rPr>
                        <a:t>Registered users can log in using their email and password. The system verifies the credentials to allow secure access to the application.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938530">
                <a:tc>
                  <a:txBody>
                    <a:bodyPr/>
                    <a:lstStyle/>
                    <a:p>
                      <a:r>
                        <a:rPr sz="1500">
                          <a:latin typeface="Times New Roman" panose="02020603050405020304" pitchFamily="18" charset="0"/>
                          <a:cs typeface="Times New Roman" panose="02020603050405020304" pitchFamily="18" charset="0"/>
                        </a:rPr>
                        <a:t>Upload Image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500">
                          <a:latin typeface="Times New Roman" panose="02020603050405020304" pitchFamily="18" charset="0"/>
                          <a:cs typeface="Times New Roman" panose="02020603050405020304" pitchFamily="18" charset="0"/>
                        </a:rPr>
                        <a:t>The user uploads a knee X-ray image through the interface. The system accepts valid image formats and prepares the image for processing.</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939165">
                <a:tc>
                  <a:txBody>
                    <a:bodyPr/>
                    <a:lstStyle/>
                    <a:p>
                      <a:r>
                        <a:rPr sz="1500">
                          <a:latin typeface="Times New Roman" panose="02020603050405020304" pitchFamily="18" charset="0"/>
                          <a:cs typeface="Times New Roman" panose="02020603050405020304" pitchFamily="18" charset="0"/>
                        </a:rPr>
                        <a:t>View Results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500">
                          <a:latin typeface="Times New Roman" panose="02020603050405020304" pitchFamily="18" charset="0"/>
                          <a:cs typeface="Times New Roman" panose="02020603050405020304" pitchFamily="18" charset="0"/>
                        </a:rPr>
                        <a:t>After processing, the system displays the classification result along with the predicted severity level of osteoarthritis.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r h="702945">
                <a:tc>
                  <a:txBody>
                    <a:bodyPr/>
                    <a:lstStyle/>
                    <a:p>
                      <a:r>
                        <a:rPr sz="1500">
                          <a:latin typeface="Times New Roman" panose="02020603050405020304" pitchFamily="18" charset="0"/>
                          <a:cs typeface="Times New Roman" panose="02020603050405020304" pitchFamily="18" charset="0"/>
                        </a:rPr>
                        <a:t>Logout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sz="1500" dirty="0">
                          <a:latin typeface="Times New Roman" panose="02020603050405020304" pitchFamily="18" charset="0"/>
                          <a:cs typeface="Times New Roman" panose="02020603050405020304" pitchFamily="18" charset="0"/>
                        </a:rPr>
                        <a:t>After completing the process, the user can safely log out of the system to ensure data security.</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213995"/>
            <a:ext cx="10353675" cy="1019810"/>
          </a:xfrm>
        </p:spPr>
        <p:txBody>
          <a:bodyPr/>
          <a:lstStyle/>
          <a:p>
            <a:r>
              <a:rPr lang="en-US"/>
              <a:t>result</a:t>
            </a:r>
          </a:p>
        </p:txBody>
      </p:sp>
      <p:sp>
        <p:nvSpPr>
          <p:cNvPr id="3" name="Content Placeholder 2"/>
          <p:cNvSpPr>
            <a:spLocks noGrp="1"/>
          </p:cNvSpPr>
          <p:nvPr>
            <p:ph sz="half" idx="1"/>
          </p:nvPr>
        </p:nvSpPr>
        <p:spPr>
          <a:xfrm>
            <a:off x="548005" y="1473835"/>
            <a:ext cx="11097895" cy="5180965"/>
          </a:xfrm>
        </p:spPr>
        <p:txBody>
          <a:bodyPr>
            <a:normAutofit lnSpcReduction="10000"/>
          </a:bodyPr>
          <a:lstStyle/>
          <a:p>
            <a:pPr marL="0" indent="0" algn="just">
              <a:buNone/>
            </a:pPr>
            <a:r>
              <a:rPr lang="en-US" altLang="en-US" dirty="0"/>
              <a:t>The proposed system was successfully implemented to detect and classify Knee Osteoarthritis (KOA) using knee X-ray images. The model was trained using preprocessed data and tested on unseen images to evaluate its performance. The system accurately classifies the input images into different severity levels such as Normal, Doubtful, Mild, Moderate, and Severe.</a:t>
            </a:r>
          </a:p>
          <a:p>
            <a:pPr marL="0" indent="0" algn="just">
              <a:buNone/>
            </a:pPr>
            <a:endParaRPr lang="en-US" altLang="en-US" dirty="0"/>
          </a:p>
          <a:p>
            <a:pPr marL="0" indent="0" algn="just">
              <a:buNone/>
            </a:pPr>
            <a:r>
              <a:rPr lang="en-US" altLang="en-US" dirty="0"/>
              <a:t>The use of multiple deep learning models (</a:t>
            </a:r>
            <a:r>
              <a:rPr lang="en-US" altLang="en-US" dirty="0" err="1"/>
              <a:t>AlexNet</a:t>
            </a:r>
            <a:r>
              <a:rPr lang="en-US" altLang="en-US" dirty="0"/>
              <a:t>, </a:t>
            </a:r>
            <a:r>
              <a:rPr lang="en-US" altLang="en-US" dirty="0" err="1"/>
              <a:t>MobileNet</a:t>
            </a:r>
            <a:r>
              <a:rPr lang="en-US" altLang="en-US" dirty="0"/>
              <a:t>, and </a:t>
            </a:r>
            <a:r>
              <a:rPr lang="en-US" altLang="en-US" dirty="0" err="1"/>
              <a:t>ResNet</a:t>
            </a:r>
            <a:r>
              <a:rPr lang="en-US" altLang="en-US" dirty="0"/>
              <a:t>) improves the overall performance of the system. The results show high classification accuracy and better prediction capability. The system provides fast and reliable outputs, making it useful for assisting medical professionals in early diagnosis.</a:t>
            </a:r>
          </a:p>
          <a:p>
            <a:pPr marL="0" indent="0" algn="just">
              <a:buNone/>
            </a:pPr>
            <a:endParaRPr lang="en-US" altLang="en-US" dirty="0"/>
          </a:p>
          <a:p>
            <a:pPr marL="0" indent="0" algn="just">
              <a:buNone/>
            </a:pPr>
            <a:r>
              <a:rPr lang="en-US" altLang="en-US" dirty="0"/>
              <a:t>Overall, the developed model demonstrates effective performance in detecting knee osteoarthritis and can be used as a supportive tool in medical diagnosis.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65" y="97155"/>
            <a:ext cx="10353675" cy="539115"/>
          </a:xfrm>
        </p:spPr>
        <p:txBody>
          <a:bodyPr>
            <a:normAutofit fontScale="90000"/>
          </a:bodyPr>
          <a:lstStyle/>
          <a:p>
            <a:r>
              <a:rPr lang="en-US" sz="3600" dirty="0"/>
              <a:t>Experimental Results</a:t>
            </a:r>
            <a:endParaRPr lang="en-US" dirty="0"/>
          </a:p>
        </p:txBody>
      </p:sp>
      <p:sp>
        <p:nvSpPr>
          <p:cNvPr id="9" name="Text Box 8"/>
          <p:cNvSpPr txBox="1"/>
          <p:nvPr/>
        </p:nvSpPr>
        <p:spPr>
          <a:xfrm>
            <a:off x="981075" y="3750945"/>
            <a:ext cx="4064000" cy="2405380"/>
          </a:xfrm>
          <a:prstGeom prst="rect">
            <a:avLst/>
          </a:prstGeom>
          <a:noFill/>
        </p:spPr>
        <p:txBody>
          <a:bodyPr wrap="square" rtlCol="0">
            <a:noAutofit/>
          </a:bodyPr>
          <a:lstStyle/>
          <a:p>
            <a:endParaRPr lang="en-US"/>
          </a:p>
        </p:txBody>
      </p:sp>
      <p:sp>
        <p:nvSpPr>
          <p:cNvPr id="17" name="Text Box 16"/>
          <p:cNvSpPr txBox="1"/>
          <p:nvPr/>
        </p:nvSpPr>
        <p:spPr>
          <a:xfrm>
            <a:off x="7355840" y="4527550"/>
            <a:ext cx="4064000" cy="368300"/>
          </a:xfrm>
          <a:prstGeom prst="rect">
            <a:avLst/>
          </a:prstGeom>
          <a:noFill/>
        </p:spPr>
        <p:txBody>
          <a:bodyPr wrap="square" rtlCol="0">
            <a:spAutoFit/>
          </a:bodyPr>
          <a:lstStyle/>
          <a:p>
            <a:endParaRPr lang="en-US"/>
          </a:p>
        </p:txBody>
      </p:sp>
      <p:pic>
        <p:nvPicPr>
          <p:cNvPr id="11" name="Picture 10">
            <a:extLst>
              <a:ext uri="{FF2B5EF4-FFF2-40B4-BE49-F238E27FC236}">
                <a16:creationId xmlns:a16="http://schemas.microsoft.com/office/drawing/2014/main" id="{83ADFED0-152F-1293-D612-2666F9E71D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1063836"/>
            <a:ext cx="4945651" cy="4730327"/>
          </a:xfrm>
          <a:prstGeom prst="rect">
            <a:avLst/>
          </a:prstGeom>
        </p:spPr>
      </p:pic>
      <p:pic>
        <p:nvPicPr>
          <p:cNvPr id="12" name="Picture 11">
            <a:extLst>
              <a:ext uri="{FF2B5EF4-FFF2-40B4-BE49-F238E27FC236}">
                <a16:creationId xmlns:a16="http://schemas.microsoft.com/office/drawing/2014/main" id="{F0470D71-900F-A9A7-0BCD-1F1D835CA2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1846" y="1124478"/>
            <a:ext cx="5584554" cy="4609042"/>
          </a:xfrm>
          <a:prstGeom prst="rect">
            <a:avLst/>
          </a:prstGeom>
        </p:spPr>
      </p:pic>
      <p:sp>
        <p:nvSpPr>
          <p:cNvPr id="14" name="TextBox 13">
            <a:extLst>
              <a:ext uri="{FF2B5EF4-FFF2-40B4-BE49-F238E27FC236}">
                <a16:creationId xmlns:a16="http://schemas.microsoft.com/office/drawing/2014/main" id="{B2D478BD-B5BB-1E98-AC4A-B7283829BA0D}"/>
              </a:ext>
            </a:extLst>
          </p:cNvPr>
          <p:cNvSpPr txBox="1"/>
          <p:nvPr/>
        </p:nvSpPr>
        <p:spPr>
          <a:xfrm>
            <a:off x="-548640" y="5971659"/>
            <a:ext cx="6096000" cy="369332"/>
          </a:xfrm>
          <a:prstGeom prst="rect">
            <a:avLst/>
          </a:prstGeom>
          <a:noFill/>
        </p:spPr>
        <p:txBody>
          <a:bodyPr wrap="square">
            <a:spAutoFit/>
          </a:bodyPr>
          <a:lstStyle/>
          <a:p>
            <a:pPr algn="ctr"/>
            <a:r>
              <a:rPr lang="en-US" sz="1800" dirty="0"/>
              <a:t>Step-1</a:t>
            </a:r>
            <a:endParaRPr lang="en-IN" sz="1800" dirty="0"/>
          </a:p>
        </p:txBody>
      </p:sp>
      <p:sp>
        <p:nvSpPr>
          <p:cNvPr id="16" name="TextBox 15">
            <a:extLst>
              <a:ext uri="{FF2B5EF4-FFF2-40B4-BE49-F238E27FC236}">
                <a16:creationId xmlns:a16="http://schemas.microsoft.com/office/drawing/2014/main" id="{D3743F7F-8ABE-09CA-A213-B7083E8C6384}"/>
              </a:ext>
            </a:extLst>
          </p:cNvPr>
          <p:cNvSpPr txBox="1"/>
          <p:nvPr/>
        </p:nvSpPr>
        <p:spPr>
          <a:xfrm>
            <a:off x="5821680" y="5877795"/>
            <a:ext cx="6370320" cy="369332"/>
          </a:xfrm>
          <a:prstGeom prst="rect">
            <a:avLst/>
          </a:prstGeom>
          <a:noFill/>
        </p:spPr>
        <p:txBody>
          <a:bodyPr wrap="square">
            <a:spAutoFit/>
          </a:bodyPr>
          <a:lstStyle/>
          <a:p>
            <a:pPr algn="ctr"/>
            <a:r>
              <a:rPr lang="en-US" sz="1800" dirty="0"/>
              <a:t>Step-2</a:t>
            </a:r>
            <a:endParaRPr lang="en-IN" sz="1800" dirty="0"/>
          </a:p>
        </p:txBody>
      </p:sp>
    </p:spTree>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p:nvPr/>
        </p:nvSpPr>
        <p:spPr>
          <a:xfrm>
            <a:off x="307340" y="3429000"/>
            <a:ext cx="5228590" cy="2740660"/>
          </a:xfrm>
          <a:prstGeom prst="rect">
            <a:avLst/>
          </a:prstGeom>
          <a:noFill/>
        </p:spPr>
        <p:txBody>
          <a:bodyPr wrap="square" rtlCol="0">
            <a:noAutofit/>
          </a:bodyPr>
          <a:lstStyle/>
          <a:p>
            <a:endParaRPr lang="en-US"/>
          </a:p>
        </p:txBody>
      </p:sp>
      <p:pic>
        <p:nvPicPr>
          <p:cNvPr id="6" name="Picture 5">
            <a:extLst>
              <a:ext uri="{FF2B5EF4-FFF2-40B4-BE49-F238E27FC236}">
                <a16:creationId xmlns:a16="http://schemas.microsoft.com/office/drawing/2014/main" id="{92266803-0751-DB1A-BC90-FD4E855FE5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160" y="332265"/>
            <a:ext cx="5024118" cy="2644616"/>
          </a:xfrm>
          <a:prstGeom prst="rect">
            <a:avLst/>
          </a:prstGeom>
        </p:spPr>
      </p:pic>
      <p:pic>
        <p:nvPicPr>
          <p:cNvPr id="9" name="Picture 8">
            <a:extLst>
              <a:ext uri="{FF2B5EF4-FFF2-40B4-BE49-F238E27FC236}">
                <a16:creationId xmlns:a16="http://schemas.microsoft.com/office/drawing/2014/main" id="{509A0A9D-6A4E-7A73-FAC0-B202E2A8F2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8880" y="332265"/>
            <a:ext cx="5394960" cy="2644616"/>
          </a:xfrm>
          <a:prstGeom prst="rect">
            <a:avLst/>
          </a:prstGeom>
        </p:spPr>
      </p:pic>
      <p:pic>
        <p:nvPicPr>
          <p:cNvPr id="10" name="Picture 9">
            <a:extLst>
              <a:ext uri="{FF2B5EF4-FFF2-40B4-BE49-F238E27FC236}">
                <a16:creationId xmlns:a16="http://schemas.microsoft.com/office/drawing/2014/main" id="{73FEF09E-3275-FBF0-D9DC-2FA793CC2C7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5770" y="3569271"/>
            <a:ext cx="5090160" cy="2896584"/>
          </a:xfrm>
          <a:prstGeom prst="rect">
            <a:avLst/>
          </a:prstGeom>
        </p:spPr>
      </p:pic>
      <p:pic>
        <p:nvPicPr>
          <p:cNvPr id="11" name="Picture 10">
            <a:extLst>
              <a:ext uri="{FF2B5EF4-FFF2-40B4-BE49-F238E27FC236}">
                <a16:creationId xmlns:a16="http://schemas.microsoft.com/office/drawing/2014/main" id="{B9EAB85B-B5DD-5CA5-AF30-B27ECA4195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0800" y="3569271"/>
            <a:ext cx="5273040" cy="2840141"/>
          </a:xfrm>
          <a:prstGeom prst="rect">
            <a:avLst/>
          </a:prstGeom>
        </p:spPr>
      </p:pic>
      <p:sp>
        <p:nvSpPr>
          <p:cNvPr id="13" name="TextBox 12">
            <a:extLst>
              <a:ext uri="{FF2B5EF4-FFF2-40B4-BE49-F238E27FC236}">
                <a16:creationId xmlns:a16="http://schemas.microsoft.com/office/drawing/2014/main" id="{D5FCB6C4-7DD7-4F5A-83EC-2540115D03A3}"/>
              </a:ext>
            </a:extLst>
          </p:cNvPr>
          <p:cNvSpPr txBox="1"/>
          <p:nvPr/>
        </p:nvSpPr>
        <p:spPr>
          <a:xfrm>
            <a:off x="-386080" y="3032530"/>
            <a:ext cx="6096000" cy="369332"/>
          </a:xfrm>
          <a:prstGeom prst="rect">
            <a:avLst/>
          </a:prstGeom>
          <a:noFill/>
        </p:spPr>
        <p:txBody>
          <a:bodyPr wrap="square">
            <a:spAutoFit/>
          </a:bodyPr>
          <a:lstStyle/>
          <a:p>
            <a:pPr algn="ctr"/>
            <a:r>
              <a:rPr lang="en-US" sz="1800" dirty="0"/>
              <a:t>Step-3</a:t>
            </a:r>
            <a:endParaRPr lang="en-IN" sz="1800" dirty="0"/>
          </a:p>
        </p:txBody>
      </p:sp>
      <p:sp>
        <p:nvSpPr>
          <p:cNvPr id="15" name="TextBox 14">
            <a:extLst>
              <a:ext uri="{FF2B5EF4-FFF2-40B4-BE49-F238E27FC236}">
                <a16:creationId xmlns:a16="http://schemas.microsoft.com/office/drawing/2014/main" id="{5C705B9A-6D04-31DE-11D9-6DDA4FA2DE74}"/>
              </a:ext>
            </a:extLst>
          </p:cNvPr>
          <p:cNvSpPr txBox="1"/>
          <p:nvPr/>
        </p:nvSpPr>
        <p:spPr>
          <a:xfrm>
            <a:off x="5535930" y="3044428"/>
            <a:ext cx="6289040" cy="369332"/>
          </a:xfrm>
          <a:prstGeom prst="rect">
            <a:avLst/>
          </a:prstGeom>
          <a:noFill/>
        </p:spPr>
        <p:txBody>
          <a:bodyPr wrap="square">
            <a:spAutoFit/>
          </a:bodyPr>
          <a:lstStyle/>
          <a:p>
            <a:pPr algn="ctr"/>
            <a:r>
              <a:rPr lang="en-US" sz="1800" dirty="0"/>
              <a:t>Step-4</a:t>
            </a:r>
            <a:endParaRPr lang="en-IN" sz="1800" dirty="0"/>
          </a:p>
        </p:txBody>
      </p:sp>
      <p:sp>
        <p:nvSpPr>
          <p:cNvPr id="18" name="TextBox 17">
            <a:extLst>
              <a:ext uri="{FF2B5EF4-FFF2-40B4-BE49-F238E27FC236}">
                <a16:creationId xmlns:a16="http://schemas.microsoft.com/office/drawing/2014/main" id="{EE50E446-FF05-7D0D-6E78-A6A6A8F2AE42}"/>
              </a:ext>
            </a:extLst>
          </p:cNvPr>
          <p:cNvSpPr txBox="1"/>
          <p:nvPr/>
        </p:nvSpPr>
        <p:spPr>
          <a:xfrm>
            <a:off x="-579120" y="6470935"/>
            <a:ext cx="6289040" cy="369332"/>
          </a:xfrm>
          <a:prstGeom prst="rect">
            <a:avLst/>
          </a:prstGeom>
          <a:noFill/>
        </p:spPr>
        <p:txBody>
          <a:bodyPr wrap="square">
            <a:spAutoFit/>
          </a:bodyPr>
          <a:lstStyle/>
          <a:p>
            <a:pPr algn="ctr"/>
            <a:r>
              <a:rPr lang="en-US" sz="1800" dirty="0"/>
              <a:t>Step-5</a:t>
            </a:r>
            <a:endParaRPr lang="en-IN" sz="1800" dirty="0"/>
          </a:p>
        </p:txBody>
      </p:sp>
      <p:sp>
        <p:nvSpPr>
          <p:cNvPr id="20" name="TextBox 19">
            <a:extLst>
              <a:ext uri="{FF2B5EF4-FFF2-40B4-BE49-F238E27FC236}">
                <a16:creationId xmlns:a16="http://schemas.microsoft.com/office/drawing/2014/main" id="{69E95ED3-9CF3-1BE9-BEC5-ED0094E17DAF}"/>
              </a:ext>
            </a:extLst>
          </p:cNvPr>
          <p:cNvSpPr txBox="1"/>
          <p:nvPr/>
        </p:nvSpPr>
        <p:spPr>
          <a:xfrm>
            <a:off x="5535930" y="6409412"/>
            <a:ext cx="6385560" cy="369332"/>
          </a:xfrm>
          <a:prstGeom prst="rect">
            <a:avLst/>
          </a:prstGeom>
          <a:noFill/>
        </p:spPr>
        <p:txBody>
          <a:bodyPr wrap="square">
            <a:spAutoFit/>
          </a:bodyPr>
          <a:lstStyle/>
          <a:p>
            <a:pPr algn="ctr"/>
            <a:r>
              <a:rPr lang="en-US" sz="1800" dirty="0"/>
              <a:t>Step-6</a:t>
            </a:r>
            <a:endParaRPr lang="en-IN" sz="18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16"/>
          <p:cNvSpPr txBox="1"/>
          <p:nvPr/>
        </p:nvSpPr>
        <p:spPr>
          <a:xfrm>
            <a:off x="511810" y="3301683"/>
            <a:ext cx="4276725" cy="812165"/>
          </a:xfrm>
          <a:prstGeom prst="rect">
            <a:avLst/>
          </a:prstGeom>
          <a:noFill/>
        </p:spPr>
        <p:txBody>
          <a:bodyPr wrap="square" rtlCol="0">
            <a:noAutofit/>
          </a:bodyPr>
          <a:lstStyle/>
          <a:p>
            <a:pPr algn="ctr"/>
            <a:r>
              <a:rPr lang="en-US" dirty="0"/>
              <a:t>Step-7</a:t>
            </a:r>
            <a:endParaRPr lang="en-IN" dirty="0"/>
          </a:p>
        </p:txBody>
      </p:sp>
      <p:pic>
        <p:nvPicPr>
          <p:cNvPr id="6" name="Picture 5">
            <a:extLst>
              <a:ext uri="{FF2B5EF4-FFF2-40B4-BE49-F238E27FC236}">
                <a16:creationId xmlns:a16="http://schemas.microsoft.com/office/drawing/2014/main" id="{543A7FAC-5DBA-0AA0-4D38-8EC613BAF7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339" y="278844"/>
            <a:ext cx="4960621" cy="2871391"/>
          </a:xfrm>
          <a:prstGeom prst="rect">
            <a:avLst/>
          </a:prstGeom>
        </p:spPr>
      </p:pic>
      <p:pic>
        <p:nvPicPr>
          <p:cNvPr id="7" name="Picture 6">
            <a:extLst>
              <a:ext uri="{FF2B5EF4-FFF2-40B4-BE49-F238E27FC236}">
                <a16:creationId xmlns:a16="http://schemas.microsoft.com/office/drawing/2014/main" id="{B0450180-363F-7B0E-DDB1-36876FAA09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9039" y="3033554"/>
            <a:ext cx="4960621" cy="2798921"/>
          </a:xfrm>
          <a:prstGeom prst="rect">
            <a:avLst/>
          </a:prstGeom>
        </p:spPr>
      </p:pic>
      <p:sp>
        <p:nvSpPr>
          <p:cNvPr id="9" name="TextBox 8">
            <a:extLst>
              <a:ext uri="{FF2B5EF4-FFF2-40B4-BE49-F238E27FC236}">
                <a16:creationId xmlns:a16="http://schemas.microsoft.com/office/drawing/2014/main" id="{B7A48356-CEA6-2AA1-7734-3FBD1BB996A4}"/>
              </a:ext>
            </a:extLst>
          </p:cNvPr>
          <p:cNvSpPr txBox="1"/>
          <p:nvPr/>
        </p:nvSpPr>
        <p:spPr>
          <a:xfrm>
            <a:off x="5721349" y="5997694"/>
            <a:ext cx="6096000" cy="369332"/>
          </a:xfrm>
          <a:prstGeom prst="rect">
            <a:avLst/>
          </a:prstGeom>
          <a:noFill/>
        </p:spPr>
        <p:txBody>
          <a:bodyPr wrap="square">
            <a:spAutoFit/>
          </a:bodyPr>
          <a:lstStyle/>
          <a:p>
            <a:pPr algn="ctr"/>
            <a:r>
              <a:rPr lang="en-US" sz="1800" dirty="0"/>
              <a:t>Step-8</a:t>
            </a:r>
            <a:endParaRPr lang="en-IN" sz="18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3289A6-51F3-B6E4-DC8E-D9065DDEB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160" y="446056"/>
            <a:ext cx="2926080" cy="1979641"/>
          </a:xfrm>
          <a:prstGeom prst="rect">
            <a:avLst/>
          </a:prstGeom>
        </p:spPr>
      </p:pic>
      <p:pic>
        <p:nvPicPr>
          <p:cNvPr id="6" name="Picture 5">
            <a:extLst>
              <a:ext uri="{FF2B5EF4-FFF2-40B4-BE49-F238E27FC236}">
                <a16:creationId xmlns:a16="http://schemas.microsoft.com/office/drawing/2014/main" id="{55AABE00-BD01-79A7-2827-D9A388F372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7680" y="503061"/>
            <a:ext cx="2926081" cy="1922636"/>
          </a:xfrm>
          <a:prstGeom prst="rect">
            <a:avLst/>
          </a:prstGeom>
        </p:spPr>
      </p:pic>
      <p:pic>
        <p:nvPicPr>
          <p:cNvPr id="7" name="Picture 6">
            <a:extLst>
              <a:ext uri="{FF2B5EF4-FFF2-40B4-BE49-F238E27FC236}">
                <a16:creationId xmlns:a16="http://schemas.microsoft.com/office/drawing/2014/main" id="{808EC4FB-3553-F2E5-9A2A-074B47CF8E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99121" y="503061"/>
            <a:ext cx="2835428" cy="1903432"/>
          </a:xfrm>
          <a:prstGeom prst="rect">
            <a:avLst/>
          </a:prstGeom>
        </p:spPr>
      </p:pic>
      <p:pic>
        <p:nvPicPr>
          <p:cNvPr id="8" name="Picture 7">
            <a:extLst>
              <a:ext uri="{FF2B5EF4-FFF2-40B4-BE49-F238E27FC236}">
                <a16:creationId xmlns:a16="http://schemas.microsoft.com/office/drawing/2014/main" id="{6BEAA0F3-300D-D928-A196-CE5EF38D438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68452" y="3672842"/>
            <a:ext cx="3058456" cy="1972672"/>
          </a:xfrm>
          <a:prstGeom prst="rect">
            <a:avLst/>
          </a:prstGeom>
        </p:spPr>
      </p:pic>
      <p:pic>
        <p:nvPicPr>
          <p:cNvPr id="9" name="Picture 8">
            <a:extLst>
              <a:ext uri="{FF2B5EF4-FFF2-40B4-BE49-F238E27FC236}">
                <a16:creationId xmlns:a16="http://schemas.microsoft.com/office/drawing/2014/main" id="{F2CD2A87-322F-FF32-AE47-6527FB232A5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68637" y="3672842"/>
            <a:ext cx="3147060" cy="1986439"/>
          </a:xfrm>
          <a:prstGeom prst="rect">
            <a:avLst/>
          </a:prstGeom>
        </p:spPr>
      </p:pic>
      <p:sp>
        <p:nvSpPr>
          <p:cNvPr id="11" name="TextBox 10">
            <a:extLst>
              <a:ext uri="{FF2B5EF4-FFF2-40B4-BE49-F238E27FC236}">
                <a16:creationId xmlns:a16="http://schemas.microsoft.com/office/drawing/2014/main" id="{F3B1BE6E-F293-94C4-75D9-AD5DAD0073D3}"/>
              </a:ext>
            </a:extLst>
          </p:cNvPr>
          <p:cNvSpPr txBox="1"/>
          <p:nvPr/>
        </p:nvSpPr>
        <p:spPr>
          <a:xfrm>
            <a:off x="-1148080" y="2540991"/>
            <a:ext cx="6096000" cy="369332"/>
          </a:xfrm>
          <a:prstGeom prst="rect">
            <a:avLst/>
          </a:prstGeom>
          <a:noFill/>
        </p:spPr>
        <p:txBody>
          <a:bodyPr wrap="square">
            <a:spAutoFit/>
          </a:bodyPr>
          <a:lstStyle/>
          <a:p>
            <a:pPr algn="ctr"/>
            <a:r>
              <a:rPr lang="en-US" sz="1800" dirty="0">
                <a:solidFill>
                  <a:schemeClr val="tx1"/>
                </a:solidFill>
              </a:rPr>
              <a:t>Grade-0</a:t>
            </a:r>
            <a:endParaRPr lang="en-IN" dirty="0">
              <a:solidFill>
                <a:schemeClr val="tx1"/>
              </a:solidFill>
            </a:endParaRPr>
          </a:p>
        </p:txBody>
      </p:sp>
      <p:sp>
        <p:nvSpPr>
          <p:cNvPr id="13" name="TextBox 12">
            <a:extLst>
              <a:ext uri="{FF2B5EF4-FFF2-40B4-BE49-F238E27FC236}">
                <a16:creationId xmlns:a16="http://schemas.microsoft.com/office/drawing/2014/main" id="{7066F1B0-93CD-1AFA-D076-79C9C5B1A530}"/>
              </a:ext>
            </a:extLst>
          </p:cNvPr>
          <p:cNvSpPr txBox="1"/>
          <p:nvPr/>
        </p:nvSpPr>
        <p:spPr>
          <a:xfrm>
            <a:off x="2278380" y="2540991"/>
            <a:ext cx="6670040" cy="369332"/>
          </a:xfrm>
          <a:prstGeom prst="rect">
            <a:avLst/>
          </a:prstGeom>
          <a:noFill/>
        </p:spPr>
        <p:txBody>
          <a:bodyPr wrap="square">
            <a:spAutoFit/>
          </a:bodyPr>
          <a:lstStyle/>
          <a:p>
            <a:pPr algn="ctr"/>
            <a:r>
              <a:rPr lang="en-US" sz="1800" dirty="0">
                <a:solidFill>
                  <a:schemeClr val="tx1"/>
                </a:solidFill>
              </a:rPr>
              <a:t>Grade-</a:t>
            </a:r>
            <a:r>
              <a:rPr lang="en-US" dirty="0"/>
              <a:t>1</a:t>
            </a:r>
            <a:endParaRPr lang="en-IN" dirty="0">
              <a:solidFill>
                <a:schemeClr val="tx1"/>
              </a:solidFill>
            </a:endParaRPr>
          </a:p>
        </p:txBody>
      </p:sp>
      <p:sp>
        <p:nvSpPr>
          <p:cNvPr id="15" name="TextBox 14">
            <a:extLst>
              <a:ext uri="{FF2B5EF4-FFF2-40B4-BE49-F238E27FC236}">
                <a16:creationId xmlns:a16="http://schemas.microsoft.com/office/drawing/2014/main" id="{F3483243-A8FC-A82A-31DA-231F2DD0B145}"/>
              </a:ext>
            </a:extLst>
          </p:cNvPr>
          <p:cNvSpPr txBox="1"/>
          <p:nvPr/>
        </p:nvSpPr>
        <p:spPr>
          <a:xfrm>
            <a:off x="6096000" y="2521787"/>
            <a:ext cx="6670040" cy="369332"/>
          </a:xfrm>
          <a:prstGeom prst="rect">
            <a:avLst/>
          </a:prstGeom>
          <a:noFill/>
        </p:spPr>
        <p:txBody>
          <a:bodyPr wrap="square">
            <a:spAutoFit/>
          </a:bodyPr>
          <a:lstStyle/>
          <a:p>
            <a:pPr algn="ctr"/>
            <a:r>
              <a:rPr lang="en-US" sz="1800" dirty="0">
                <a:solidFill>
                  <a:schemeClr val="tx1"/>
                </a:solidFill>
              </a:rPr>
              <a:t>Grade-2</a:t>
            </a:r>
            <a:endParaRPr lang="en-IN" dirty="0">
              <a:solidFill>
                <a:schemeClr val="tx1"/>
              </a:solidFill>
            </a:endParaRPr>
          </a:p>
        </p:txBody>
      </p:sp>
      <p:sp>
        <p:nvSpPr>
          <p:cNvPr id="17" name="TextBox 16">
            <a:extLst>
              <a:ext uri="{FF2B5EF4-FFF2-40B4-BE49-F238E27FC236}">
                <a16:creationId xmlns:a16="http://schemas.microsoft.com/office/drawing/2014/main" id="{BF0232DF-C3BE-EC70-7A14-A3A225D0FD4A}"/>
              </a:ext>
            </a:extLst>
          </p:cNvPr>
          <p:cNvSpPr txBox="1"/>
          <p:nvPr/>
        </p:nvSpPr>
        <p:spPr>
          <a:xfrm>
            <a:off x="817880" y="5794494"/>
            <a:ext cx="6959600" cy="369332"/>
          </a:xfrm>
          <a:prstGeom prst="rect">
            <a:avLst/>
          </a:prstGeom>
          <a:noFill/>
        </p:spPr>
        <p:txBody>
          <a:bodyPr wrap="square">
            <a:spAutoFit/>
          </a:bodyPr>
          <a:lstStyle/>
          <a:p>
            <a:pPr algn="ctr"/>
            <a:r>
              <a:rPr lang="en-US" sz="1800" dirty="0">
                <a:solidFill>
                  <a:schemeClr val="tx1"/>
                </a:solidFill>
              </a:rPr>
              <a:t>Grade-4</a:t>
            </a:r>
            <a:endParaRPr lang="en-IN" dirty="0">
              <a:solidFill>
                <a:schemeClr val="tx1"/>
              </a:solidFill>
            </a:endParaRPr>
          </a:p>
        </p:txBody>
      </p:sp>
      <p:sp>
        <p:nvSpPr>
          <p:cNvPr id="19" name="TextBox 18">
            <a:extLst>
              <a:ext uri="{FF2B5EF4-FFF2-40B4-BE49-F238E27FC236}">
                <a16:creationId xmlns:a16="http://schemas.microsoft.com/office/drawing/2014/main" id="{04B86D76-DCB2-6AA9-2C57-AA6C12844D62}"/>
              </a:ext>
            </a:extLst>
          </p:cNvPr>
          <p:cNvSpPr txBox="1"/>
          <p:nvPr/>
        </p:nvSpPr>
        <p:spPr>
          <a:xfrm>
            <a:off x="4947920" y="5775290"/>
            <a:ext cx="6959600" cy="369332"/>
          </a:xfrm>
          <a:prstGeom prst="rect">
            <a:avLst/>
          </a:prstGeom>
          <a:noFill/>
        </p:spPr>
        <p:txBody>
          <a:bodyPr wrap="square">
            <a:spAutoFit/>
          </a:bodyPr>
          <a:lstStyle/>
          <a:p>
            <a:pPr algn="ctr"/>
            <a:r>
              <a:rPr lang="en-US" sz="1800" dirty="0">
                <a:solidFill>
                  <a:schemeClr val="tx1"/>
                </a:solidFill>
              </a:rPr>
              <a:t>Grade-5</a:t>
            </a:r>
            <a:endParaRPr lang="en-IN" dirty="0">
              <a:solidFill>
                <a:schemeClr val="tx1"/>
              </a:solidFill>
            </a:endParaRPr>
          </a:p>
        </p:txBody>
      </p:sp>
    </p:spTree>
    <p:extLst>
      <p:ext uri="{BB962C8B-B14F-4D97-AF65-F5344CB8AC3E}">
        <p14:creationId xmlns:p14="http://schemas.microsoft.com/office/powerpoint/2010/main" val="4419149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7E97-6E87-8AEA-EB59-4D0ADBBEC910}"/>
              </a:ext>
            </a:extLst>
          </p:cNvPr>
          <p:cNvSpPr>
            <a:spLocks noGrp="1"/>
          </p:cNvSpPr>
          <p:nvPr>
            <p:ph type="title"/>
          </p:nvPr>
        </p:nvSpPr>
        <p:spPr>
          <a:xfrm>
            <a:off x="659795" y="284481"/>
            <a:ext cx="10353761" cy="640080"/>
          </a:xfrm>
        </p:spPr>
        <p:txBody>
          <a:bodyPr/>
          <a:lstStyle/>
          <a:p>
            <a:r>
              <a:rPr lang="en-US" dirty="0"/>
              <a:t>Model Accuracy </a:t>
            </a:r>
            <a:endParaRPr lang="en-IN" dirty="0"/>
          </a:p>
        </p:txBody>
      </p:sp>
      <p:pic>
        <p:nvPicPr>
          <p:cNvPr id="5" name="Image 575">
            <a:extLst>
              <a:ext uri="{FF2B5EF4-FFF2-40B4-BE49-F238E27FC236}">
                <a16:creationId xmlns:a16="http://schemas.microsoft.com/office/drawing/2014/main" id="{B551D00C-395D-4FAB-C711-FD923F3BBAD1}"/>
              </a:ext>
            </a:extLst>
          </p:cNvPr>
          <p:cNvPicPr>
            <a:picLocks noGrp="1"/>
          </p:cNvPicPr>
          <p:nvPr>
            <p:ph sz="half" idx="1"/>
          </p:nvPr>
        </p:nvPicPr>
        <p:blipFill>
          <a:blip r:embed="rId2" cstate="print"/>
          <a:stretch>
            <a:fillRect/>
          </a:stretch>
        </p:blipFill>
        <p:spPr>
          <a:xfrm>
            <a:off x="819568" y="1721803"/>
            <a:ext cx="4646512" cy="3856037"/>
          </a:xfrm>
          <a:prstGeom prst="rect">
            <a:avLst/>
          </a:prstGeom>
        </p:spPr>
      </p:pic>
      <p:graphicFrame>
        <p:nvGraphicFramePr>
          <p:cNvPr id="7" name="Table 6">
            <a:extLst>
              <a:ext uri="{FF2B5EF4-FFF2-40B4-BE49-F238E27FC236}">
                <a16:creationId xmlns:a16="http://schemas.microsoft.com/office/drawing/2014/main" id="{BDC546BB-D080-F360-32D0-64926D397787}"/>
              </a:ext>
            </a:extLst>
          </p:cNvPr>
          <p:cNvGraphicFramePr>
            <a:graphicFrameLocks noGrp="1"/>
          </p:cNvGraphicFramePr>
          <p:nvPr>
            <p:extLst>
              <p:ext uri="{D42A27DB-BD31-4B8C-83A1-F6EECF244321}">
                <p14:modId xmlns:p14="http://schemas.microsoft.com/office/powerpoint/2010/main" val="293260182"/>
              </p:ext>
            </p:extLst>
          </p:nvPr>
        </p:nvGraphicFramePr>
        <p:xfrm>
          <a:off x="6096000" y="1881981"/>
          <a:ext cx="5577840" cy="3383280"/>
        </p:xfrm>
        <a:graphic>
          <a:graphicData uri="http://schemas.openxmlformats.org/drawingml/2006/table">
            <a:tbl>
              <a:tblPr firstRow="1" bandRow="1"/>
              <a:tblGrid>
                <a:gridCol w="1115568">
                  <a:extLst>
                    <a:ext uri="{9D8B030D-6E8A-4147-A177-3AD203B41FA5}">
                      <a16:colId xmlns:a16="http://schemas.microsoft.com/office/drawing/2014/main" val="20000"/>
                    </a:ext>
                  </a:extLst>
                </a:gridCol>
                <a:gridCol w="1115568">
                  <a:extLst>
                    <a:ext uri="{9D8B030D-6E8A-4147-A177-3AD203B41FA5}">
                      <a16:colId xmlns:a16="http://schemas.microsoft.com/office/drawing/2014/main" val="20001"/>
                    </a:ext>
                  </a:extLst>
                </a:gridCol>
                <a:gridCol w="1115568">
                  <a:extLst>
                    <a:ext uri="{9D8B030D-6E8A-4147-A177-3AD203B41FA5}">
                      <a16:colId xmlns:a16="http://schemas.microsoft.com/office/drawing/2014/main" val="20002"/>
                    </a:ext>
                  </a:extLst>
                </a:gridCol>
                <a:gridCol w="1115568">
                  <a:extLst>
                    <a:ext uri="{9D8B030D-6E8A-4147-A177-3AD203B41FA5}">
                      <a16:colId xmlns:a16="http://schemas.microsoft.com/office/drawing/2014/main" val="20003"/>
                    </a:ext>
                  </a:extLst>
                </a:gridCol>
                <a:gridCol w="1115568">
                  <a:extLst>
                    <a:ext uri="{9D8B030D-6E8A-4147-A177-3AD203B41FA5}">
                      <a16:colId xmlns:a16="http://schemas.microsoft.com/office/drawing/2014/main" val="20004"/>
                    </a:ext>
                  </a:extLst>
                </a:gridCol>
              </a:tblGrid>
              <a:tr h="557581">
                <a:tc>
                  <a:txBody>
                    <a:bodyPr/>
                    <a:lstStyle/>
                    <a:p>
                      <a:pPr algn="ctr"/>
                      <a:endParaRPr lang="en-IN" dirty="0"/>
                    </a:p>
                  </a:txBody>
                  <a:tcPr anchor="ctr">
                    <a:solidFill>
                      <a:schemeClr val="bg1">
                        <a:lumMod val="40000"/>
                        <a:lumOff val="60000"/>
                      </a:schemeClr>
                    </a:solidFill>
                  </a:tcPr>
                </a:tc>
                <a:tc>
                  <a:txBody>
                    <a:bodyPr/>
                    <a:lstStyle/>
                    <a:p>
                      <a:pPr algn="ctr"/>
                      <a:r>
                        <a:rPr lang="en-US" dirty="0"/>
                        <a:t>Precision</a:t>
                      </a:r>
                      <a:endParaRPr lang="en-IN" dirty="0"/>
                    </a:p>
                  </a:txBody>
                  <a:tcPr anchor="ctr">
                    <a:solidFill>
                      <a:schemeClr val="bg1">
                        <a:lumMod val="40000"/>
                        <a:lumOff val="60000"/>
                      </a:schemeClr>
                    </a:solidFill>
                  </a:tcPr>
                </a:tc>
                <a:tc>
                  <a:txBody>
                    <a:bodyPr/>
                    <a:lstStyle/>
                    <a:p>
                      <a:r>
                        <a:rPr lang="en-US" dirty="0"/>
                        <a:t>Recall</a:t>
                      </a:r>
                      <a:endParaRPr lang="en-IN" dirty="0"/>
                    </a:p>
                  </a:txBody>
                  <a:tcPr anchor="ctr">
                    <a:solidFill>
                      <a:schemeClr val="bg1">
                        <a:lumMod val="40000"/>
                        <a:lumOff val="60000"/>
                      </a:schemeClr>
                    </a:solidFill>
                  </a:tcPr>
                </a:tc>
                <a:tc>
                  <a:txBody>
                    <a:bodyPr/>
                    <a:lstStyle/>
                    <a:p>
                      <a:r>
                        <a:rPr lang="en-US" dirty="0"/>
                        <a:t>F1-score</a:t>
                      </a:r>
                      <a:endParaRPr lang="en-IN" dirty="0"/>
                    </a:p>
                  </a:txBody>
                  <a:tcPr anchor="ctr">
                    <a:solidFill>
                      <a:schemeClr val="bg1">
                        <a:lumMod val="40000"/>
                        <a:lumOff val="60000"/>
                      </a:schemeClr>
                    </a:solidFill>
                  </a:tcPr>
                </a:tc>
                <a:tc>
                  <a:txBody>
                    <a:bodyPr/>
                    <a:lstStyle/>
                    <a:p>
                      <a:r>
                        <a:rPr lang="en-US" dirty="0"/>
                        <a:t>Support</a:t>
                      </a:r>
                      <a:endParaRPr lang="en-IN" dirty="0"/>
                    </a:p>
                  </a:txBody>
                  <a:tcPr anchor="ctr">
                    <a:solidFill>
                      <a:schemeClr val="bg1">
                        <a:lumMod val="40000"/>
                        <a:lumOff val="60000"/>
                      </a:schemeClr>
                    </a:solidFill>
                  </a:tcPr>
                </a:tc>
                <a:extLst>
                  <a:ext uri="{0D108BD9-81ED-4DB2-BD59-A6C34878D82A}">
                    <a16:rowId xmlns:a16="http://schemas.microsoft.com/office/drawing/2014/main" val="10000"/>
                  </a:ext>
                </a:extLst>
              </a:tr>
              <a:tr h="327989">
                <a:tc>
                  <a:txBody>
                    <a:bodyPr/>
                    <a:lstStyle/>
                    <a:p>
                      <a:pPr algn="ctr"/>
                      <a:r>
                        <a:rPr lang="en-US" dirty="0"/>
                        <a:t>0</a:t>
                      </a:r>
                    </a:p>
                  </a:txBody>
                  <a:tcPr anchor="ctr"/>
                </a:tc>
                <a:tc>
                  <a:txBody>
                    <a:bodyPr/>
                    <a:lstStyle/>
                    <a:p>
                      <a:pPr algn="ctr"/>
                      <a:r>
                        <a:rPr lang="en-US" dirty="0"/>
                        <a:t>0.98</a:t>
                      </a:r>
                      <a:endParaRPr lang="en-IN" dirty="0"/>
                    </a:p>
                  </a:txBody>
                  <a:tcPr anchor="ctr"/>
                </a:tc>
                <a:tc>
                  <a:txBody>
                    <a:bodyPr/>
                    <a:lstStyle/>
                    <a:p>
                      <a:pPr algn="ctr"/>
                      <a:r>
                        <a:rPr lang="en-US" dirty="0"/>
                        <a:t>0.97</a:t>
                      </a:r>
                      <a:endParaRPr lang="en-IN" dirty="0"/>
                    </a:p>
                  </a:txBody>
                  <a:tcPr anchor="ctr"/>
                </a:tc>
                <a:tc>
                  <a:txBody>
                    <a:bodyPr/>
                    <a:lstStyle/>
                    <a:p>
                      <a:pPr algn="ctr"/>
                      <a:r>
                        <a:rPr lang="en-US" dirty="0"/>
                        <a:t>0.98</a:t>
                      </a:r>
                      <a:endParaRPr lang="en-IN" dirty="0"/>
                    </a:p>
                  </a:txBody>
                  <a:tcPr anchor="ctr"/>
                </a:tc>
                <a:tc>
                  <a:txBody>
                    <a:bodyPr/>
                    <a:lstStyle/>
                    <a:p>
                      <a:pPr algn="ctr"/>
                      <a:r>
                        <a:rPr lang="en-US" dirty="0"/>
                        <a:t>308</a:t>
                      </a:r>
                      <a:endParaRPr lang="en-IN" dirty="0"/>
                    </a:p>
                  </a:txBody>
                  <a:tcPr anchor="ctr"/>
                </a:tc>
                <a:extLst>
                  <a:ext uri="{0D108BD9-81ED-4DB2-BD59-A6C34878D82A}">
                    <a16:rowId xmlns:a16="http://schemas.microsoft.com/office/drawing/2014/main" val="10001"/>
                  </a:ext>
                </a:extLst>
              </a:tr>
              <a:tr h="327989">
                <a:tc>
                  <a:txBody>
                    <a:bodyPr/>
                    <a:lstStyle/>
                    <a:p>
                      <a:pPr algn="ctr"/>
                      <a:r>
                        <a:rPr lang="en-US" dirty="0"/>
                        <a:t>1</a:t>
                      </a:r>
                      <a:endParaRPr lang="en-IN" dirty="0"/>
                    </a:p>
                  </a:txBody>
                  <a:tcPr anchor="ctr"/>
                </a:tc>
                <a:tc>
                  <a:txBody>
                    <a:bodyPr/>
                    <a:lstStyle/>
                    <a:p>
                      <a:pPr algn="ctr"/>
                      <a:r>
                        <a:rPr lang="en-US" dirty="0"/>
                        <a:t>0.95</a:t>
                      </a:r>
                      <a:endParaRPr lang="en-IN" dirty="0"/>
                    </a:p>
                  </a:txBody>
                  <a:tcPr anchor="ctr"/>
                </a:tc>
                <a:tc>
                  <a:txBody>
                    <a:bodyPr/>
                    <a:lstStyle/>
                    <a:p>
                      <a:pPr algn="ctr"/>
                      <a:r>
                        <a:rPr lang="en-US" dirty="0"/>
                        <a:t>0.92</a:t>
                      </a:r>
                      <a:endParaRPr lang="en-IN" dirty="0"/>
                    </a:p>
                  </a:txBody>
                  <a:tcPr anchor="ctr"/>
                </a:tc>
                <a:tc>
                  <a:txBody>
                    <a:bodyPr/>
                    <a:lstStyle/>
                    <a:p>
                      <a:pPr algn="ctr"/>
                      <a:r>
                        <a:rPr lang="en-US" dirty="0"/>
                        <a:t>0.93</a:t>
                      </a:r>
                      <a:endParaRPr lang="en-IN" dirty="0"/>
                    </a:p>
                  </a:txBody>
                  <a:tcPr anchor="ctr"/>
                </a:tc>
                <a:tc>
                  <a:txBody>
                    <a:bodyPr/>
                    <a:lstStyle/>
                    <a:p>
                      <a:pPr algn="ctr"/>
                      <a:r>
                        <a:rPr lang="en-US" dirty="0"/>
                        <a:t>308</a:t>
                      </a:r>
                      <a:endParaRPr lang="en-IN" dirty="0"/>
                    </a:p>
                  </a:txBody>
                  <a:tcPr anchor="ctr"/>
                </a:tc>
                <a:extLst>
                  <a:ext uri="{0D108BD9-81ED-4DB2-BD59-A6C34878D82A}">
                    <a16:rowId xmlns:a16="http://schemas.microsoft.com/office/drawing/2014/main" val="10002"/>
                  </a:ext>
                </a:extLst>
              </a:tr>
              <a:tr h="327989">
                <a:tc>
                  <a:txBody>
                    <a:bodyPr/>
                    <a:lstStyle/>
                    <a:p>
                      <a:pPr algn="ctr"/>
                      <a:r>
                        <a:rPr lang="en-US" dirty="0"/>
                        <a:t>2</a:t>
                      </a:r>
                      <a:endParaRPr lang="en-IN" dirty="0"/>
                    </a:p>
                  </a:txBody>
                  <a:tcPr anchor="ctr"/>
                </a:tc>
                <a:tc>
                  <a:txBody>
                    <a:bodyPr/>
                    <a:lstStyle/>
                    <a:p>
                      <a:pPr algn="ctr"/>
                      <a:r>
                        <a:rPr lang="en-US" dirty="0"/>
                        <a:t>0.91</a:t>
                      </a:r>
                      <a:endParaRPr lang="en-IN" dirty="0"/>
                    </a:p>
                  </a:txBody>
                  <a:tcPr anchor="ctr"/>
                </a:tc>
                <a:tc>
                  <a:txBody>
                    <a:bodyPr/>
                    <a:lstStyle/>
                    <a:p>
                      <a:pPr algn="ctr"/>
                      <a:r>
                        <a:rPr lang="en-US" dirty="0"/>
                        <a:t>0.98</a:t>
                      </a:r>
                      <a:endParaRPr lang="en-IN" dirty="0"/>
                    </a:p>
                  </a:txBody>
                  <a:tcPr anchor="ctr"/>
                </a:tc>
                <a:tc>
                  <a:txBody>
                    <a:bodyPr/>
                    <a:lstStyle/>
                    <a:p>
                      <a:pPr algn="ctr"/>
                      <a:r>
                        <a:rPr lang="en-US" dirty="0"/>
                        <a:t>0.94</a:t>
                      </a:r>
                      <a:endParaRPr lang="en-IN" dirty="0"/>
                    </a:p>
                  </a:txBody>
                  <a:tcPr anchor="ctr"/>
                </a:tc>
                <a:tc>
                  <a:txBody>
                    <a:bodyPr/>
                    <a:lstStyle/>
                    <a:p>
                      <a:pPr algn="ctr"/>
                      <a:r>
                        <a:rPr lang="en-US" dirty="0"/>
                        <a:t>308</a:t>
                      </a:r>
                      <a:endParaRPr lang="en-IN" dirty="0"/>
                    </a:p>
                  </a:txBody>
                  <a:tcPr anchor="ctr"/>
                </a:tc>
                <a:extLst>
                  <a:ext uri="{0D108BD9-81ED-4DB2-BD59-A6C34878D82A}">
                    <a16:rowId xmlns:a16="http://schemas.microsoft.com/office/drawing/2014/main" val="10003"/>
                  </a:ext>
                </a:extLst>
              </a:tr>
              <a:tr h="327989">
                <a:tc>
                  <a:txBody>
                    <a:bodyPr/>
                    <a:lstStyle/>
                    <a:p>
                      <a:pPr algn="ctr"/>
                      <a:r>
                        <a:rPr lang="en-US" dirty="0"/>
                        <a:t>3</a:t>
                      </a:r>
                      <a:endParaRPr lang="en-IN" dirty="0"/>
                    </a:p>
                  </a:txBody>
                  <a:tcPr anchor="ctr"/>
                </a:tc>
                <a:tc>
                  <a:txBody>
                    <a:bodyPr/>
                    <a:lstStyle/>
                    <a:p>
                      <a:pPr algn="ctr"/>
                      <a:r>
                        <a:rPr lang="en-US" dirty="0"/>
                        <a:t>0.98</a:t>
                      </a:r>
                      <a:endParaRPr lang="en-IN" dirty="0"/>
                    </a:p>
                  </a:txBody>
                  <a:tcPr anchor="ctr"/>
                </a:tc>
                <a:tc>
                  <a:txBody>
                    <a:bodyPr/>
                    <a:lstStyle/>
                    <a:p>
                      <a:pPr algn="ctr"/>
                      <a:r>
                        <a:rPr lang="en-US" dirty="0"/>
                        <a:t>0.96</a:t>
                      </a:r>
                      <a:endParaRPr lang="en-IN" dirty="0"/>
                    </a:p>
                  </a:txBody>
                  <a:tcPr anchor="ctr"/>
                </a:tc>
                <a:tc>
                  <a:txBody>
                    <a:bodyPr/>
                    <a:lstStyle/>
                    <a:p>
                      <a:pPr algn="ctr"/>
                      <a:r>
                        <a:rPr lang="en-US" dirty="0"/>
                        <a:t>0.97</a:t>
                      </a:r>
                      <a:endParaRPr lang="en-IN" dirty="0"/>
                    </a:p>
                  </a:txBody>
                  <a:tcPr anchor="ctr"/>
                </a:tc>
                <a:tc>
                  <a:txBody>
                    <a:bodyPr/>
                    <a:lstStyle/>
                    <a:p>
                      <a:pPr algn="ctr"/>
                      <a:r>
                        <a:rPr lang="en-US" dirty="0"/>
                        <a:t>308</a:t>
                      </a:r>
                      <a:endParaRPr lang="en-IN" dirty="0"/>
                    </a:p>
                  </a:txBody>
                  <a:tcPr anchor="ctr"/>
                </a:tc>
                <a:extLst>
                  <a:ext uri="{0D108BD9-81ED-4DB2-BD59-A6C34878D82A}">
                    <a16:rowId xmlns:a16="http://schemas.microsoft.com/office/drawing/2014/main" val="10004"/>
                  </a:ext>
                </a:extLst>
              </a:tr>
              <a:tr h="327989">
                <a:tc>
                  <a:txBody>
                    <a:bodyPr/>
                    <a:lstStyle/>
                    <a:p>
                      <a:pPr algn="ctr"/>
                      <a:r>
                        <a:rPr lang="en-US" dirty="0"/>
                        <a:t>4</a:t>
                      </a:r>
                      <a:endParaRPr lang="en-IN" dirty="0"/>
                    </a:p>
                  </a:txBody>
                  <a:tcPr anchor="ctr"/>
                </a:tc>
                <a:tc>
                  <a:txBody>
                    <a:bodyPr/>
                    <a:lstStyle/>
                    <a:p>
                      <a:pPr algn="ctr"/>
                      <a:r>
                        <a:rPr lang="en-US" dirty="0"/>
                        <a:t>1.00</a:t>
                      </a:r>
                      <a:endParaRPr lang="en-IN" dirty="0"/>
                    </a:p>
                  </a:txBody>
                  <a:tcPr anchor="ctr"/>
                </a:tc>
                <a:tc>
                  <a:txBody>
                    <a:bodyPr/>
                    <a:lstStyle/>
                    <a:p>
                      <a:pPr algn="ctr"/>
                      <a:r>
                        <a:rPr lang="en-US" dirty="0"/>
                        <a:t>0.99</a:t>
                      </a:r>
                      <a:endParaRPr lang="en-IN" dirty="0"/>
                    </a:p>
                  </a:txBody>
                  <a:tcPr anchor="ctr"/>
                </a:tc>
                <a:tc>
                  <a:txBody>
                    <a:bodyPr/>
                    <a:lstStyle/>
                    <a:p>
                      <a:pPr algn="ctr"/>
                      <a:r>
                        <a:rPr lang="en-US" dirty="0"/>
                        <a:t>1.00</a:t>
                      </a:r>
                      <a:endParaRPr lang="en-IN" dirty="0"/>
                    </a:p>
                  </a:txBody>
                  <a:tcPr anchor="ctr"/>
                </a:tc>
                <a:tc>
                  <a:txBody>
                    <a:bodyPr/>
                    <a:lstStyle/>
                    <a:p>
                      <a:pPr algn="ctr"/>
                      <a:r>
                        <a:rPr lang="en-US" dirty="0"/>
                        <a:t>251</a:t>
                      </a:r>
                      <a:endParaRPr lang="en-IN" dirty="0"/>
                    </a:p>
                  </a:txBody>
                  <a:tcPr anchor="ctr"/>
                </a:tc>
                <a:extLst>
                  <a:ext uri="{0D108BD9-81ED-4DB2-BD59-A6C34878D82A}">
                    <a16:rowId xmlns:a16="http://schemas.microsoft.com/office/drawing/2014/main" val="10005"/>
                  </a:ext>
                </a:extLst>
              </a:tr>
              <a:tr h="787173">
                <a:tc>
                  <a:txBody>
                    <a:bodyPr/>
                    <a:lstStyle/>
                    <a:p>
                      <a:pPr algn="ctr"/>
                      <a:r>
                        <a:rPr lang="en-US" dirty="0"/>
                        <a:t>Total</a:t>
                      </a:r>
                    </a:p>
                    <a:p>
                      <a:pPr algn="ctr"/>
                      <a:r>
                        <a:rPr lang="en-US" dirty="0"/>
                        <a:t>Accuracy</a:t>
                      </a:r>
                      <a:endParaRPr lang="en-IN" dirty="0"/>
                    </a:p>
                  </a:txBody>
                  <a:tcPr anchor="ctr"/>
                </a:tc>
                <a:tc gridSpan="3">
                  <a:txBody>
                    <a:bodyPr/>
                    <a:lstStyle/>
                    <a:p>
                      <a:pPr algn="ctr"/>
                      <a:r>
                        <a:rPr lang="en-US" dirty="0"/>
                        <a:t>0.96</a:t>
                      </a:r>
                      <a:endParaRPr lang="en-IN" dirty="0"/>
                    </a:p>
                  </a:txBody>
                  <a:tcPr anchor="ctr"/>
                </a:tc>
                <a:tc hMerge="1">
                  <a:txBody>
                    <a:bodyPr/>
                    <a:lstStyle/>
                    <a:p>
                      <a:pPr algn="ctr"/>
                      <a:endParaRPr lang="en-IN" dirty="0"/>
                    </a:p>
                  </a:txBody>
                  <a:tcPr anchor="ctr"/>
                </a:tc>
                <a:tc hMerge="1">
                  <a:txBody>
                    <a:bodyPr/>
                    <a:lstStyle/>
                    <a:p>
                      <a:endParaRPr dirty="0"/>
                    </a:p>
                  </a:txBody>
                  <a:tcPr anchor="ctr"/>
                </a:tc>
                <a:tc>
                  <a:txBody>
                    <a:bodyPr/>
                    <a:lstStyle/>
                    <a:p>
                      <a:pPr algn="ctr"/>
                      <a:r>
                        <a:rPr lang="en-US" dirty="0"/>
                        <a:t>1483</a:t>
                      </a:r>
                      <a:endParaRPr lang="en-IN" dirty="0"/>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1080974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913795" y="2096064"/>
            <a:ext cx="10353762" cy="3979616"/>
          </a:xfrm>
        </p:spPr>
        <p:txBody>
          <a:bodyPr>
            <a:normAutofit fontScale="92500" lnSpcReduction="20000"/>
          </a:bodyPr>
          <a:lstStyle/>
          <a:p>
            <a:pPr algn="just"/>
            <a:r>
              <a:rPr lang="en-US" sz="2400" dirty="0">
                <a:latin typeface="Times New Roman" panose="02020603050405020304" pitchFamily="18" charset="0"/>
                <a:cs typeface="Times New Roman" panose="02020603050405020304" pitchFamily="18" charset="0"/>
              </a:rPr>
              <a:t>This project presents an automated and efficient approach for detecting Knee Osteoarthritis (KOA) using an ensemble Convolutional Neural Network (CNN) model that integrates </a:t>
            </a:r>
            <a:r>
              <a:rPr lang="en-US" sz="2400" dirty="0" err="1">
                <a:latin typeface="Times New Roman" panose="02020603050405020304" pitchFamily="18" charset="0"/>
                <a:cs typeface="Times New Roman" panose="02020603050405020304" pitchFamily="18" charset="0"/>
              </a:rPr>
              <a:t>AlexNet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MobileNet</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ResNet</a:t>
            </a:r>
            <a:r>
              <a:rPr lang="en-US" sz="2400" dirty="0">
                <a:latin typeface="Times New Roman" panose="02020603050405020304" pitchFamily="18" charset="0"/>
                <a:cs typeface="Times New Roman" panose="02020603050405020304" pitchFamily="18" charset="0"/>
              </a:rPr>
              <a:t> architectures. By combining the strengths of multiple models, the proposed system improves classification accuracy, robustness, and generalization compared to individual CNN models. The ensemble approach effectively classifies different stages of KOA from knee X-ray images.</a:t>
            </a:r>
          </a:p>
          <a:p>
            <a:pPr algn="just"/>
            <a:r>
              <a:rPr lang="en-US" sz="2400" dirty="0">
                <a:latin typeface="Times New Roman" panose="02020603050405020304" pitchFamily="18" charset="0"/>
                <a:cs typeface="Times New Roman" panose="02020603050405020304" pitchFamily="18" charset="0"/>
              </a:rPr>
              <a:t>The system reduces manual effort, minimizes diagnostic errors, and supports the early detection of the disease, enabling doctors to make faster and better treatment decisions. Overall, the proposed deep learning-based system enhances the reliability, efficiency, and accuracy of Knee Osteoarthritis diagnosis and has strong potential for real-world medical applications.</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210" y="2488565"/>
            <a:ext cx="12162790" cy="1210945"/>
          </a:xfrm>
          <a:prstGeom prst="rect">
            <a:avLst/>
          </a:prstGeom>
          <a:noFill/>
        </p:spPr>
        <p:txBody>
          <a:bodyPr wrap="square" rtlCol="0">
            <a:noAutofit/>
          </a:bodyPr>
          <a:lstStyle/>
          <a:p>
            <a:pPr algn="ctr"/>
            <a:r>
              <a:rPr lang="en-US" sz="4800" dirty="0">
                <a:latin typeface="Algerian" panose="04020705040A02060702" charset="0"/>
                <a:cs typeface="Algerian" panose="04020705040A02060702" charset="0"/>
              </a:rPr>
              <a:t>Thank you</a:t>
            </a:r>
            <a:endParaRPr lang="en-IN" sz="4800" dirty="0">
              <a:latin typeface="Algerian" panose="04020705040A02060702" charset="0"/>
              <a:cs typeface="Algerian" panose="04020705040A02060702"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airplan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15*404"/>
  <p:tag name="TABLE_ENDDRAG_RECT" val="71*98*815*404"/>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15*412"/>
  <p:tag name="TABLE_ENDDRAG_RECT" val="71*95*815*412"/>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47*370"/>
  <p:tag name="TABLE_ENDDRAG_RECT" val="39*155*847*370"/>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54*387"/>
  <p:tag name="TABLE_ENDDRAG_RECT" val="32*94*854*38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71</TotalTime>
  <Words>2402</Words>
  <Application>Microsoft Office PowerPoint</Application>
  <PresentationFormat>Widescreen</PresentationFormat>
  <Paragraphs>203</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Algerian</vt:lpstr>
      <vt:lpstr>Arial</vt:lpstr>
      <vt:lpstr>Bookman Old Style</vt:lpstr>
      <vt:lpstr>Rockwell</vt:lpstr>
      <vt:lpstr>Times New Roman</vt:lpstr>
      <vt:lpstr>Wingdings</vt:lpstr>
      <vt:lpstr>Damask</vt:lpstr>
      <vt:lpstr>PowerPoint Presentation</vt:lpstr>
      <vt:lpstr>Abstract</vt:lpstr>
      <vt:lpstr>WHAT IS KNEE OSTEOARTHRITIS?</vt:lpstr>
      <vt:lpstr>Introduction</vt:lpstr>
      <vt:lpstr>System Requirements</vt:lpstr>
      <vt:lpstr>Literature Survey</vt:lpstr>
      <vt:lpstr>LITERATURE SURVEY</vt:lpstr>
      <vt:lpstr>EXISTING SYSTEM</vt:lpstr>
      <vt:lpstr>DISADVANTAGES</vt:lpstr>
      <vt:lpstr>Proposed System</vt:lpstr>
      <vt:lpstr>ADVANTAGES</vt:lpstr>
      <vt:lpstr>Architecture</vt:lpstr>
      <vt:lpstr>PowerPoint Presentation</vt:lpstr>
      <vt:lpstr>MODULES</vt:lpstr>
      <vt:lpstr>PowerPoint Presentation</vt:lpstr>
      <vt:lpstr>result</vt:lpstr>
      <vt:lpstr>Experimental Results</vt:lpstr>
      <vt:lpstr>PowerPoint Presentation</vt:lpstr>
      <vt:lpstr>PowerPoint Presentation</vt:lpstr>
      <vt:lpstr>PowerPoint Presentation</vt:lpstr>
      <vt:lpstr>Model Accuracy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Padma Bommepalli</cp:lastModifiedBy>
  <cp:revision>34</cp:revision>
  <dcterms:created xsi:type="dcterms:W3CDTF">2026-01-19T07:08:00Z</dcterms:created>
  <dcterms:modified xsi:type="dcterms:W3CDTF">2026-04-25T14:05:22Z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56B54A96D7AE43388902A483B94A6D26_13</vt:lpwstr>
  </property>
  <property fmtid="{D5CDD505-2E9C-101B-9397-08002B2CF9AE}" pid="3" name="KSOProductBuildVer">
    <vt:lpwstr>1033-12.2.0.23196</vt:lpwstr>
  </property>
</Properties>
</file>