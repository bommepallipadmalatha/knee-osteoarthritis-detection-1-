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 id="260" r:id="rId3"/>
    <p:sldId id="261" r:id="rId4"/>
    <p:sldId id="275" r:id="rId5"/>
    <p:sldId id="276" r:id="rId6"/>
    <p:sldId id="264" r:id="rId7"/>
    <p:sldId id="338" r:id="rId8"/>
    <p:sldId id="265" r:id="rId9"/>
    <p:sldId id="374" r:id="rId10"/>
    <p:sldId id="375" r:id="rId11"/>
    <p:sldId id="288" r:id="rId12"/>
    <p:sldId id="376" r:id="rId13"/>
    <p:sldId id="377" r:id="rId14"/>
    <p:sldId id="378" r:id="rId15"/>
    <p:sldId id="379" r:id="rId16"/>
    <p:sldId id="268" r:id="rId17"/>
    <p:sldId id="280" r:id="rId18"/>
    <p:sldId id="281" r:id="rId19"/>
    <p:sldId id="269" r:id="rId20"/>
    <p:sldId id="270" r:id="rId21"/>
    <p:sldId id="282" r:id="rId22"/>
    <p:sldId id="283" r:id="rId23"/>
    <p:sldId id="284" r:id="rId24"/>
    <p:sldId id="380" r:id="rId25"/>
    <p:sldId id="383" r:id="rId26"/>
    <p:sldId id="345" r:id="rId27"/>
    <p:sldId id="344" r:id="rId28"/>
    <p:sldId id="381" r:id="rId29"/>
    <p:sldId id="382" r:id="rId30"/>
    <p:sldId id="384" r:id="rId31"/>
    <p:sldId id="346" r:id="rId32"/>
    <p:sldId id="347" r:id="rId33"/>
    <p:sldId id="349" r:id="rId34"/>
    <p:sldId id="348" r:id="rId35"/>
    <p:sldId id="350" r:id="rId36"/>
    <p:sldId id="351" r:id="rId37"/>
    <p:sldId id="352" r:id="rId38"/>
    <p:sldId id="353" r:id="rId39"/>
    <p:sldId id="354" r:id="rId40"/>
    <p:sldId id="355" r:id="rId41"/>
    <p:sldId id="361" r:id="rId42"/>
    <p:sldId id="360" r:id="rId43"/>
    <p:sldId id="359" r:id="rId44"/>
    <p:sldId id="358" r:id="rId45"/>
    <p:sldId id="357" r:id="rId46"/>
    <p:sldId id="356" r:id="rId47"/>
    <p:sldId id="362" r:id="rId48"/>
    <p:sldId id="363" r:id="rId49"/>
    <p:sldId id="364" r:id="rId50"/>
    <p:sldId id="366" r:id="rId51"/>
    <p:sldId id="367" r:id="rId52"/>
    <p:sldId id="373" r:id="rId53"/>
    <p:sldId id="368" r:id="rId54"/>
    <p:sldId id="371" r:id="rId55"/>
    <p:sldId id="369" r:id="rId56"/>
    <p:sldId id="385" r:id="rId57"/>
    <p:sldId id="386" r:id="rId58"/>
    <p:sldId id="387" r:id="rId59"/>
    <p:sldId id="372" r:id="rId60"/>
    <p:sldId id="388"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89" autoAdjust="0"/>
    <p:restoredTop sz="95194" autoAdjust="0"/>
  </p:normalViewPr>
  <p:slideViewPr>
    <p:cSldViewPr snapToGrid="0">
      <p:cViewPr varScale="1">
        <p:scale>
          <a:sx n="86" d="100"/>
          <a:sy n="86" d="100"/>
        </p:scale>
        <p:origin x="39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24FB319-408F-4B57-95FC-213113A36553}" type="datetimeFigureOut">
              <a:rPr lang="en-US" smtClean="0"/>
              <a:t>2/14/2024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A0AE3085-DAF0-4F9D-B196-6B0FE55CC83D}"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4FB319-408F-4B57-95FC-213113A36553}"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4FB319-408F-4B57-95FC-213113A36553}" type="datetimeFigureOut">
              <a:rPr lang="en-US" smtClean="0"/>
              <a:t>2/14/2024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AE3085-DAF0-4F9D-B196-6B0FE55CC83D}"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4FB319-408F-4B57-95FC-213113A36553}" type="datetimeFigureOut">
              <a:rPr lang="en-US" smtClean="0"/>
              <a:t>2/14/2024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FB319-408F-4B57-95FC-213113A36553}" type="datetimeFigureOut">
              <a:rPr lang="en-US" smtClean="0"/>
              <a:t>2/14/2024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4FB319-408F-4B57-95FC-213113A36553}" type="datetimeFigureOut">
              <a:rPr lang="en-US" smtClean="0"/>
              <a:t>2/14/2024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AE3085-DAF0-4F9D-B196-6B0FE55CC83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A3FB2B-F285-9353-F3A5-3E940555C1CB}"/>
              </a:ext>
            </a:extLst>
          </p:cNvPr>
          <p:cNvSpPr/>
          <p:nvPr/>
        </p:nvSpPr>
        <p:spPr>
          <a:xfrm>
            <a:off x="1466806" y="2180741"/>
            <a:ext cx="9258387" cy="2496517"/>
          </a:xfrm>
          <a:prstGeom prst="rect">
            <a:avLst/>
          </a:prstGeom>
        </p:spPr>
        <p:txBody>
          <a:bodyPr wrap="square">
            <a:spAutoFit/>
          </a:bodyPr>
          <a:lstStyle/>
          <a:p>
            <a:pPr algn="ctr">
              <a:lnSpc>
                <a:spcPct val="150000"/>
              </a:lnSpc>
              <a:spcAft>
                <a:spcPts val="1000"/>
              </a:spcAft>
            </a:pPr>
            <a:r>
              <a:rPr lang="en-US" sz="3600" b="1" dirty="0">
                <a:latin typeface="Times New Roman" panose="02020603050405020304" pitchFamily="18" charset="0"/>
                <a:ea typeface="Calibri" panose="020F0502020204030204" pitchFamily="34" charset="0"/>
                <a:cs typeface="Times New Roman" panose="02020603050405020304" pitchFamily="18" charset="0"/>
              </a:rPr>
              <a:t>DISCOVERING KNEE OSTEOARTHRITIS USING CNN ENCHANCED WITH ALEX NET</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34869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Output Screens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Conclusion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References</a:t>
            </a:r>
          </a:p>
          <a:p>
            <a:pPr marL="768350" lvl="2" indent="0">
              <a:lnSpc>
                <a:spcPct val="170000"/>
              </a:lnSpc>
              <a:buNone/>
            </a:pPr>
            <a:r>
              <a:rPr lang="en-US"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518117" y="895613"/>
            <a:ext cx="6316394"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6" name="TextBox 5">
            <a:extLst>
              <a:ext uri="{FF2B5EF4-FFF2-40B4-BE49-F238E27FC236}">
                <a16:creationId xmlns:a16="http://schemas.microsoft.com/office/drawing/2014/main" id="{E16F470B-9D9D-94D0-2D62-82D66F90E8AE}"/>
              </a:ext>
            </a:extLst>
          </p:cNvPr>
          <p:cNvSpPr txBox="1"/>
          <p:nvPr/>
        </p:nvSpPr>
        <p:spPr>
          <a:xfrm>
            <a:off x="1467729" y="1559643"/>
            <a:ext cx="9256542" cy="4402744"/>
          </a:xfrm>
          <a:prstGeom prst="rect">
            <a:avLst/>
          </a:prstGeom>
          <a:noFill/>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Introducing an innovative approach to early knee osteoarthritis detection, this research leverages a specialized Convolutional Neural Network (CNN) enriched with the sophisticated architectures of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ResNet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Focused on enhancing diagnostic accuracy and efficiency through the analysis of medical imaging data, the integration of these state-of-the-art networks harnesses the power of deep learning. This novel framework exhibits heightened performance in identifying initial indicators of knee osteoarthritis, contributing to advancements in early detection and intervention for this prevalent joint ailment.</a:t>
            </a:r>
          </a:p>
          <a:p>
            <a:pPr algn="just">
              <a:lnSpc>
                <a:spcPct val="150000"/>
              </a:lnSpc>
              <a:spcAft>
                <a:spcPts val="80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Knee Osteoarthritis, CNN,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ResNet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Medical Imaging, Deep Learning, Diagnostic Precision.</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2119054" y="553783"/>
            <a:ext cx="7357403"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5" name="TextBox 4">
            <a:extLst>
              <a:ext uri="{FF2B5EF4-FFF2-40B4-BE49-F238E27FC236}">
                <a16:creationId xmlns:a16="http://schemas.microsoft.com/office/drawing/2014/main" id="{B84686D9-66EB-FF00-2338-9A32D4E84DEE}"/>
              </a:ext>
            </a:extLst>
          </p:cNvPr>
          <p:cNvSpPr txBox="1"/>
          <p:nvPr/>
        </p:nvSpPr>
        <p:spPr>
          <a:xfrm>
            <a:off x="839755" y="1484661"/>
            <a:ext cx="10580914" cy="4582280"/>
          </a:xfrm>
          <a:prstGeom prst="rect">
            <a:avLst/>
          </a:prstGeom>
          <a:noFill/>
        </p:spPr>
        <p:txBody>
          <a:bodyPr wrap="square">
            <a:spAutoFit/>
          </a:bodyPr>
          <a:lstStyle/>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Enhanced Diagnostics: </a:t>
            </a:r>
            <a:r>
              <a:rPr lang="en-US" sz="1800" dirty="0">
                <a:solidFill>
                  <a:srgbClr val="000000"/>
                </a:solidFill>
                <a:effectLst/>
                <a:latin typeface="Times New Roman" panose="02020603050405020304" pitchFamily="18" charset="0"/>
                <a:ea typeface="Times New Roman" panose="02020603050405020304" pitchFamily="18" charset="0"/>
              </a:rPr>
              <a:t>Implement a specialized Convolutional Neural Network (CNN) with integrated architectures from </a:t>
            </a:r>
            <a:r>
              <a:rPr lang="en-US" sz="1800" dirty="0" err="1">
                <a:solidFill>
                  <a:srgbClr val="000000"/>
                </a:solidFill>
                <a:effectLst/>
                <a:latin typeface="Times New Roman" panose="02020603050405020304" pitchFamily="18" charset="0"/>
                <a:ea typeface="Times New Roman" panose="02020603050405020304" pitchFamily="18" charset="0"/>
              </a:rPr>
              <a:t>AlexNet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MobileNet</a:t>
            </a:r>
            <a:r>
              <a:rPr lang="en-US" sz="1800" dirty="0">
                <a:solidFill>
                  <a:srgbClr val="000000"/>
                </a:solidFill>
                <a:effectLst/>
                <a:latin typeface="Times New Roman" panose="02020603050405020304" pitchFamily="18" charset="0"/>
                <a:ea typeface="Times New Roman" panose="02020603050405020304" pitchFamily="18" charset="0"/>
              </a:rPr>
              <a:t>, and </a:t>
            </a:r>
            <a:r>
              <a:rPr lang="en-US" sz="1800" dirty="0" err="1">
                <a:solidFill>
                  <a:srgbClr val="000000"/>
                </a:solidFill>
                <a:effectLst/>
                <a:latin typeface="Times New Roman" panose="02020603050405020304" pitchFamily="18" charset="0"/>
                <a:ea typeface="Times New Roman" panose="02020603050405020304" pitchFamily="18" charset="0"/>
              </a:rPr>
              <a:t>ResNet</a:t>
            </a:r>
            <a:r>
              <a:rPr lang="en-US" sz="1800" dirty="0">
                <a:solidFill>
                  <a:srgbClr val="000000"/>
                </a:solidFill>
                <a:effectLst/>
                <a:latin typeface="Times New Roman" panose="02020603050405020304" pitchFamily="18" charset="0"/>
                <a:ea typeface="Times New Roman" panose="02020603050405020304" pitchFamily="18" charset="0"/>
              </a:rPr>
              <a:t> to improve precision in knee osteoarthritis diagnosis.</a:t>
            </a:r>
          </a:p>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Early Detection: </a:t>
            </a:r>
            <a:r>
              <a:rPr lang="en-US" sz="1800" dirty="0">
                <a:solidFill>
                  <a:srgbClr val="000000"/>
                </a:solidFill>
                <a:effectLst/>
                <a:latin typeface="Times New Roman" panose="02020603050405020304" pitchFamily="18" charset="0"/>
                <a:ea typeface="Times New Roman" panose="02020603050405020304" pitchFamily="18" charset="0"/>
              </a:rPr>
              <a:t>Utilize deep learning techniques to identify initial indicators, enabling timely intervention for knee osteoarthritis, ultimately contributing to enhanced patient outcomes.</a:t>
            </a:r>
          </a:p>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Architectural Integration: </a:t>
            </a:r>
            <a:r>
              <a:rPr lang="en-US" sz="1800" dirty="0">
                <a:solidFill>
                  <a:srgbClr val="000000"/>
                </a:solidFill>
                <a:effectLst/>
                <a:latin typeface="Times New Roman" panose="02020603050405020304" pitchFamily="18" charset="0"/>
                <a:ea typeface="Times New Roman" panose="02020603050405020304" pitchFamily="18" charset="0"/>
              </a:rPr>
              <a:t>Integrate advanced neural network architectures to optimize the system's ability to analyze complex medical imaging datasets, fostering a more comprehensive and accurate diagnostic process.</a:t>
            </a:r>
          </a:p>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Medical Advancements: </a:t>
            </a:r>
            <a:r>
              <a:rPr lang="en-US" sz="1800" dirty="0">
                <a:solidFill>
                  <a:srgbClr val="000000"/>
                </a:solidFill>
                <a:effectLst/>
                <a:latin typeface="Times New Roman" panose="02020603050405020304" pitchFamily="18" charset="0"/>
                <a:ea typeface="Times New Roman" panose="02020603050405020304" pitchFamily="18" charset="0"/>
              </a:rPr>
              <a:t>Contribute to the progress in medical diagnostics by developing a novel framework for addressing prevalent joint ailments, particularly knee osteoarthritis. This approach showcases the potential for significant advancements in early detection and intervention strategies, ultimately improving patient care.</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6" name="TextBox 5">
            <a:extLst>
              <a:ext uri="{FF2B5EF4-FFF2-40B4-BE49-F238E27FC236}">
                <a16:creationId xmlns:a16="http://schemas.microsoft.com/office/drawing/2014/main" id="{42811A63-9582-7C61-E03B-78F394160D2A}"/>
              </a:ext>
            </a:extLst>
          </p:cNvPr>
          <p:cNvSpPr txBox="1"/>
          <p:nvPr/>
        </p:nvSpPr>
        <p:spPr>
          <a:xfrm>
            <a:off x="1125415" y="2161217"/>
            <a:ext cx="10311619" cy="2535566"/>
          </a:xfrm>
          <a:prstGeom prst="rect">
            <a:avLst/>
          </a:prstGeom>
          <a:noFill/>
        </p:spPr>
        <p:txBody>
          <a:bodyPr wrap="square">
            <a:spAutoFit/>
          </a:bodyPr>
          <a:lstStyle/>
          <a:p>
            <a:pPr algn="just">
              <a:lnSpc>
                <a:spcPct val="150000"/>
              </a:lnSpc>
              <a:spcAft>
                <a:spcPts val="1000"/>
              </a:spcAft>
            </a:pPr>
            <a:r>
              <a:rPr lang="en-US" sz="1800" dirty="0">
                <a:solidFill>
                  <a:srgbClr val="333333"/>
                </a:solidFill>
                <a:effectLst/>
                <a:latin typeface="Times New Roman" panose="02020603050405020304" pitchFamily="18" charset="0"/>
                <a:ea typeface="Calibri" panose="020F0502020204030204" pitchFamily="34" charset="0"/>
              </a:rPr>
              <a:t>The project addresses the challenge of accurately diagnosing knee osteoarthritis, a prevalent joint ailment, using conventional diagnostic methods that may lack precision and efficiency. The current methods often rely on subjective interpretations and may not detect early indicators of the condition, leading to delayed intervention and suboptimal patient outcomes. Therefore, there is a critical need for a robust and efficient diagnostic system capable of early detection and precise identification of knee osteoarthritis, thereby facilitating timely intervention and improving patient care.</a:t>
            </a:r>
            <a:endParaRPr lang="en-IN" sz="1800" dirty="0">
              <a:solidFill>
                <a:srgbClr val="333333"/>
              </a:solidFill>
              <a:effectLst/>
              <a:latin typeface="Times New Roman" panose="02020603050405020304" pitchFamily="18" charset="0"/>
              <a:ea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6051" y="1745298"/>
            <a:ext cx="9300118" cy="3038652"/>
          </a:xfrm>
          <a:prstGeom prst="rect">
            <a:avLst/>
          </a:prstGeom>
        </p:spPr>
        <p:txBody>
          <a:bodyPr wrap="square">
            <a:spAutoFit/>
          </a:bodyPr>
          <a:lstStyle/>
          <a:p>
            <a:pPr algn="just">
              <a:lnSpc>
                <a:spcPct val="150000"/>
              </a:lnSpc>
              <a:spcAft>
                <a:spcPts val="10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Motivation:</a:t>
            </a:r>
            <a:endParaRPr lang="en-US" sz="2000" dirty="0">
              <a:solidFill>
                <a:srgbClr val="0F0F0F"/>
              </a:solidFill>
              <a:effectLst/>
              <a:latin typeface="Times New Roman" panose="02020603050405020304" pitchFamily="18" charset="0"/>
              <a:ea typeface="Times New Roman" panose="02020603050405020304" pitchFamily="18" charset="0"/>
            </a:endParaRPr>
          </a:p>
          <a:p>
            <a:pPr algn="just">
              <a:lnSpc>
                <a:spcPct val="150000"/>
              </a:lnSpc>
              <a:spcAft>
                <a:spcPts val="1000"/>
              </a:spcAft>
            </a:pPr>
            <a:r>
              <a:rPr lang="en-US" sz="1600" dirty="0">
                <a:solidFill>
                  <a:srgbClr val="0F0F0F"/>
                </a:solidFill>
                <a:effectLst/>
                <a:latin typeface="Times New Roman" panose="02020603050405020304" pitchFamily="18" charset="0"/>
                <a:ea typeface="Times New Roman" panose="02020603050405020304" pitchFamily="18" charset="0"/>
              </a:rPr>
              <a:t>The motivation for this project stems from the existing challenges in accurately diagnosing knee osteoarthritis using traditional methods. The limitations in precision and timeliness in current diagnostic approaches highlight the need for a more sophisticated system. By leveraging deep learning techniques and advanced neural network architectures, the project aspires to contribute to medical advancements, providing a solution that improves the precision and efficiency of knee osteoarthritis diagnosis, ultimately enhancing patient care and outcomes.</a:t>
            </a:r>
            <a:endParaRPr lang="en-IN" sz="1600" dirty="0">
              <a:effectLst/>
              <a:latin typeface="Times New Roman" panose="02020603050405020304" pitchFamily="18" charset="0"/>
              <a:ea typeface="Times New Roman" panose="02020603050405020304" pitchFamily="18" charset="0"/>
            </a:endParaRPr>
          </a:p>
        </p:txBody>
      </p:sp>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 AND MOTIVATION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129600-A4AA-8BD2-E593-6C35176FB64C}"/>
              </a:ext>
            </a:extLst>
          </p:cNvPr>
          <p:cNvSpPr txBox="1"/>
          <p:nvPr/>
        </p:nvSpPr>
        <p:spPr>
          <a:xfrm>
            <a:off x="1061643" y="622324"/>
            <a:ext cx="10389916" cy="498663"/>
          </a:xfrm>
          <a:prstGeom prst="rect">
            <a:avLst/>
          </a:prstGeom>
          <a:noFill/>
        </p:spPr>
        <p:txBody>
          <a:bodyPr wrap="square">
            <a:spAutoFit/>
          </a:bodyPr>
          <a:lstStyle/>
          <a:p>
            <a:pPr>
              <a:lnSpc>
                <a:spcPct val="150000"/>
              </a:lnSpc>
              <a:spcAft>
                <a:spcPts val="1000"/>
              </a:spcAft>
            </a:pPr>
            <a:r>
              <a:rPr lang="en-US" sz="2000" b="1" dirty="0">
                <a:latin typeface="Times New Roman" panose="02020603050405020304" pitchFamily="18" charset="0"/>
                <a:cs typeface="Times New Roman" panose="02020603050405020304" pitchFamily="18" charset="0"/>
              </a:rPr>
              <a:t>Scope</a:t>
            </a:r>
            <a:r>
              <a:rPr lang="en-IN" dirty="0">
                <a:solidFill>
                  <a:srgbClr val="0F0F0F"/>
                </a:solidFill>
                <a:latin typeface="Times New Roman" panose="02020603050405020304" pitchFamily="18" charset="0"/>
              </a:rPr>
              <a:t>: </a:t>
            </a:r>
            <a:endParaRPr lang="en-US" dirty="0">
              <a:solidFill>
                <a:srgbClr val="0F0F0F"/>
              </a:solidFill>
              <a:latin typeface="Times New Roman" panose="02020603050405020304" pitchFamily="18" charset="0"/>
            </a:endParaRPr>
          </a:p>
        </p:txBody>
      </p:sp>
      <p:sp>
        <p:nvSpPr>
          <p:cNvPr id="4" name="TextBox 3">
            <a:extLst>
              <a:ext uri="{FF2B5EF4-FFF2-40B4-BE49-F238E27FC236}">
                <a16:creationId xmlns:a16="http://schemas.microsoft.com/office/drawing/2014/main" id="{5FE20344-3E25-8F5A-2080-30C3E665A427}"/>
              </a:ext>
            </a:extLst>
          </p:cNvPr>
          <p:cNvSpPr txBox="1"/>
          <p:nvPr/>
        </p:nvSpPr>
        <p:spPr>
          <a:xfrm>
            <a:off x="901042" y="1550601"/>
            <a:ext cx="10711118" cy="3756798"/>
          </a:xfrm>
          <a:prstGeom prst="rect">
            <a:avLst/>
          </a:prstGeom>
          <a:noFill/>
        </p:spPr>
        <p:txBody>
          <a:bodyPr wrap="square">
            <a:spAutoFit/>
          </a:bodyPr>
          <a:lstStyle/>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Utilizing Specialized CNN with </a:t>
            </a:r>
            <a:r>
              <a:rPr lang="en-US" sz="1600" b="1" dirty="0" err="1">
                <a:latin typeface="Times New Roman" panose="02020603050405020304" pitchFamily="18" charset="0"/>
                <a:cs typeface="Times New Roman" panose="02020603050405020304" pitchFamily="18" charset="0"/>
              </a:rPr>
              <a:t>AlexNet</a:t>
            </a:r>
            <a:r>
              <a:rPr lang="en-US" sz="1600" b="1" dirty="0">
                <a:latin typeface="Times New Roman" panose="02020603050405020304" pitchFamily="18" charset="0"/>
                <a:cs typeface="Times New Roman" panose="02020603050405020304" pitchFamily="18" charset="0"/>
              </a:rPr>
              <a:t> Architecture: </a:t>
            </a:r>
            <a:r>
              <a:rPr lang="en-US" sz="1600" dirty="0">
                <a:latin typeface="Times New Roman" panose="02020603050405020304" pitchFamily="18" charset="0"/>
                <a:cs typeface="Times New Roman" panose="02020603050405020304" pitchFamily="18" charset="0"/>
              </a:rPr>
              <a:t>Implementing a dedicated Convolutional Neural Network (CNN) enriched with the advanced architecture of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to create a robust framework for knee osteoarthritis detection.</a:t>
            </a:r>
          </a:p>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Enhanced Diagnostic Accuracy: </a:t>
            </a:r>
            <a:r>
              <a:rPr lang="en-US" sz="1600" dirty="0">
                <a:latin typeface="Times New Roman" panose="02020603050405020304" pitchFamily="18" charset="0"/>
                <a:cs typeface="Times New Roman" panose="02020603050405020304" pitchFamily="18" charset="0"/>
              </a:rPr>
              <a:t>Analyzing medical imaging data using deep learning techniques to achieve superior diagnostic accuracy, providing healthcare professionals with more precise information for effective decision-making.</a:t>
            </a:r>
          </a:p>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Early Detection Capabilities: </a:t>
            </a:r>
            <a:r>
              <a:rPr lang="en-US" sz="1600" dirty="0">
                <a:latin typeface="Times New Roman" panose="02020603050405020304" pitchFamily="18" charset="0"/>
                <a:cs typeface="Times New Roman" panose="02020603050405020304" pitchFamily="18" charset="0"/>
              </a:rPr>
              <a:t>Developing and implementing early detection capabilities within the system to identify initial indicators of knee osteoarthritis. This aims to facilitate timely intervention and improve patient outcomes.</a:t>
            </a:r>
          </a:p>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Integration of Advanced Neural Network Architectures: </a:t>
            </a:r>
            <a:r>
              <a:rPr lang="en-US" sz="1600" dirty="0">
                <a:latin typeface="Times New Roman" panose="02020603050405020304" pitchFamily="18" charset="0"/>
                <a:cs typeface="Times New Roman" panose="02020603050405020304" pitchFamily="18" charset="0"/>
              </a:rPr>
              <a:t>Exploring the integration of advanced neural network architectures, including </a:t>
            </a:r>
            <a:r>
              <a:rPr lang="en-US" sz="1600" dirty="0" err="1">
                <a:latin typeface="Times New Roman" panose="02020603050405020304" pitchFamily="18" charset="0"/>
                <a:cs typeface="Times New Roman" panose="02020603050405020304" pitchFamily="18" charset="0"/>
              </a:rPr>
              <a:t>MobileNet</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ResNet</a:t>
            </a:r>
            <a:r>
              <a:rPr lang="en-US" sz="1600" dirty="0">
                <a:latin typeface="Times New Roman" panose="02020603050405020304" pitchFamily="18" charset="0"/>
                <a:cs typeface="Times New Roman" panose="02020603050405020304" pitchFamily="18" charset="0"/>
              </a:rPr>
              <a:t>, to optimize the system's ability to process and interpret complex medical imaging datasets. This integration enhances the overall efficiency and effectiveness of the diagnostic process.</a:t>
            </a:r>
          </a:p>
        </p:txBody>
      </p:sp>
    </p:spTree>
    <p:extLst>
      <p:ext uri="{BB962C8B-B14F-4D97-AF65-F5344CB8AC3E}">
        <p14:creationId xmlns:p14="http://schemas.microsoft.com/office/powerpoint/2010/main" val="343245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4C617020-44E5-9443-077C-156469359949}"/>
              </a:ext>
            </a:extLst>
          </p:cNvPr>
          <p:cNvSpPr txBox="1"/>
          <p:nvPr/>
        </p:nvSpPr>
        <p:spPr>
          <a:xfrm>
            <a:off x="731521" y="1702190"/>
            <a:ext cx="10607040" cy="4064190"/>
          </a:xfrm>
          <a:prstGeom prst="rect">
            <a:avLst/>
          </a:prstGeom>
          <a:noFill/>
        </p:spPr>
        <p:txBody>
          <a:bodyPr wrap="square">
            <a:spAutoFit/>
          </a:bodyPr>
          <a:lstStyle/>
          <a:p>
            <a:pPr algn="just">
              <a:lnSpc>
                <a:spcPct val="150000"/>
              </a:lnSpc>
              <a:spcBef>
                <a:spcPts val="1200"/>
              </a:spcBef>
              <a:spcAft>
                <a:spcPts val="1000"/>
              </a:spcAft>
            </a:pPr>
            <a:r>
              <a:rPr lang="en-US" sz="1800" dirty="0">
                <a:solidFill>
                  <a:srgbClr val="374151"/>
                </a:solidFill>
                <a:latin typeface="Times New Roman" panose="02020603050405020304" pitchFamily="18" charset="0"/>
                <a:cs typeface="Times New Roman" panose="02020603050405020304" pitchFamily="18" charset="0"/>
              </a:rPr>
              <a:t>Knee osteoarthritis, a prevalent joint ailment characterized by the degeneration of knee cartilage resulting in pain and reduced mobility, underscores the critical need for accurate and early diagnosis. The significance of timely and precise diagnosis cannot be overstated, as it is fundamental to effective intervention and improved patient outcomes.</a:t>
            </a:r>
          </a:p>
          <a:p>
            <a:pPr algn="just">
              <a:lnSpc>
                <a:spcPct val="150000"/>
              </a:lnSpc>
              <a:spcBef>
                <a:spcPts val="1200"/>
              </a:spcBef>
              <a:spcAft>
                <a:spcPts val="1000"/>
              </a:spcAft>
            </a:pPr>
            <a:r>
              <a:rPr lang="en-US" sz="1800" dirty="0">
                <a:solidFill>
                  <a:srgbClr val="374151"/>
                </a:solidFill>
                <a:latin typeface="Times New Roman" panose="02020603050405020304" pitchFamily="18" charset="0"/>
                <a:cs typeface="Times New Roman" panose="02020603050405020304" pitchFamily="18" charset="0"/>
              </a:rPr>
              <a:t>However, conventional diagnostic methods encounter challenges in providing the requisite precision and timeliness necessary for optimal patient care. This project introduces a sophisticated diagnostic paradigm to address these challenges. Leveraging deep learning techniques, specifically a specialized Convolutional Neural Network (CNN) enriched with the architectural advancements of </a:t>
            </a:r>
            <a:r>
              <a:rPr lang="en-US" sz="1800" dirty="0" err="1">
                <a:solidFill>
                  <a:srgbClr val="374151"/>
                </a:solidFill>
                <a:latin typeface="Times New Roman" panose="02020603050405020304" pitchFamily="18" charset="0"/>
                <a:cs typeface="Times New Roman" panose="02020603050405020304" pitchFamily="18" charset="0"/>
              </a:rPr>
              <a:t>AlexNet</a:t>
            </a:r>
            <a:r>
              <a:rPr lang="en-US" sz="1800" dirty="0">
                <a:solidFill>
                  <a:srgbClr val="374151"/>
                </a:solidFill>
                <a:latin typeface="Times New Roman" panose="02020603050405020304" pitchFamily="18" charset="0"/>
                <a:cs typeface="Times New Roman" panose="02020603050405020304" pitchFamily="18" charset="0"/>
              </a:rPr>
              <a:t>, the system aims to transcend the limitations of existing methods.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4F6E4-916A-3150-383A-323E953C471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E26CCDE-380E-DD2C-115A-BD413C511E31}"/>
              </a:ext>
            </a:extLst>
          </p:cNvPr>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515BED87-927E-2EC9-3E1F-EBADB0C092AE}"/>
              </a:ext>
            </a:extLst>
          </p:cNvPr>
          <p:cNvSpPr txBox="1"/>
          <p:nvPr/>
        </p:nvSpPr>
        <p:spPr>
          <a:xfrm>
            <a:off x="792480" y="1416908"/>
            <a:ext cx="10607040" cy="4212948"/>
          </a:xfrm>
          <a:prstGeom prst="rect">
            <a:avLst/>
          </a:prstGeom>
          <a:noFill/>
        </p:spPr>
        <p:txBody>
          <a:bodyPr wrap="square">
            <a:spAutoFit/>
          </a:bodyPr>
          <a:lstStyle/>
          <a:p>
            <a:pPr algn="just">
              <a:lnSpc>
                <a:spcPct val="150000"/>
              </a:lnSpc>
              <a:spcBef>
                <a:spcPts val="1200"/>
              </a:spcBef>
              <a:spcAft>
                <a:spcPts val="1000"/>
              </a:spcAft>
            </a:pPr>
            <a:r>
              <a:rPr lang="en-US" sz="1800" b="1" dirty="0">
                <a:solidFill>
                  <a:srgbClr val="374151"/>
                </a:solidFill>
                <a:latin typeface="Times New Roman" panose="02020603050405020304" pitchFamily="18" charset="0"/>
                <a:cs typeface="Times New Roman" panose="02020603050405020304" pitchFamily="18" charset="0"/>
              </a:rPr>
              <a:t>Primary Objectives:</a:t>
            </a:r>
          </a:p>
          <a:p>
            <a:pPr marL="285750" indent="-285750" algn="just">
              <a:lnSpc>
                <a:spcPct val="150000"/>
              </a:lnSpc>
              <a:spcBef>
                <a:spcPts val="1200"/>
              </a:spcBef>
              <a:spcAft>
                <a:spcPts val="1000"/>
              </a:spcAft>
              <a:buFont typeface="Arial" panose="020B0604020202020204" pitchFamily="34" charset="0"/>
              <a:buChar char="•"/>
            </a:pPr>
            <a:r>
              <a:rPr lang="en-US" sz="1800" b="1" dirty="0">
                <a:solidFill>
                  <a:srgbClr val="374151"/>
                </a:solidFill>
                <a:latin typeface="Times New Roman" panose="02020603050405020304" pitchFamily="18" charset="0"/>
                <a:cs typeface="Times New Roman" panose="02020603050405020304" pitchFamily="18" charset="0"/>
              </a:rPr>
              <a:t>Enhancing Diagnostic Accuracy: </a:t>
            </a:r>
            <a:r>
              <a:rPr lang="en-US" sz="1800" dirty="0">
                <a:solidFill>
                  <a:srgbClr val="374151"/>
                </a:solidFill>
                <a:latin typeface="Times New Roman" panose="02020603050405020304" pitchFamily="18" charset="0"/>
                <a:cs typeface="Times New Roman" panose="02020603050405020304" pitchFamily="18" charset="0"/>
              </a:rPr>
              <a:t>Employing a specialized CNN with </a:t>
            </a:r>
            <a:r>
              <a:rPr lang="en-US" sz="1800" dirty="0" err="1">
                <a:solidFill>
                  <a:srgbClr val="374151"/>
                </a:solidFill>
                <a:latin typeface="Times New Roman" panose="02020603050405020304" pitchFamily="18" charset="0"/>
                <a:cs typeface="Times New Roman" panose="02020603050405020304" pitchFamily="18" charset="0"/>
              </a:rPr>
              <a:t>AlexNet</a:t>
            </a:r>
            <a:r>
              <a:rPr lang="en-US" sz="1800" dirty="0">
                <a:solidFill>
                  <a:srgbClr val="374151"/>
                </a:solidFill>
                <a:latin typeface="Times New Roman" panose="02020603050405020304" pitchFamily="18" charset="0"/>
                <a:cs typeface="Times New Roman" panose="02020603050405020304" pitchFamily="18" charset="0"/>
              </a:rPr>
              <a:t> architecture to meticulously analyze medical imaging data, aiming to enhance diagnostic accuracy in identifying knee osteoarthritis.</a:t>
            </a:r>
          </a:p>
          <a:p>
            <a:pPr marL="285750" indent="-285750" algn="just">
              <a:lnSpc>
                <a:spcPct val="150000"/>
              </a:lnSpc>
              <a:spcBef>
                <a:spcPts val="1200"/>
              </a:spcBef>
              <a:spcAft>
                <a:spcPts val="1000"/>
              </a:spcAft>
              <a:buFont typeface="Arial" panose="020B0604020202020204" pitchFamily="34" charset="0"/>
              <a:buChar char="•"/>
            </a:pPr>
            <a:r>
              <a:rPr lang="en-US" sz="1800" b="1" dirty="0">
                <a:solidFill>
                  <a:srgbClr val="374151"/>
                </a:solidFill>
                <a:latin typeface="Times New Roman" panose="02020603050405020304" pitchFamily="18" charset="0"/>
                <a:cs typeface="Times New Roman" panose="02020603050405020304" pitchFamily="18" charset="0"/>
              </a:rPr>
              <a:t>Enabling Early Detection: </a:t>
            </a:r>
            <a:r>
              <a:rPr lang="en-US" sz="1800" dirty="0">
                <a:solidFill>
                  <a:srgbClr val="374151"/>
                </a:solidFill>
                <a:latin typeface="Times New Roman" panose="02020603050405020304" pitchFamily="18" charset="0"/>
                <a:cs typeface="Times New Roman" panose="02020603050405020304" pitchFamily="18" charset="0"/>
              </a:rPr>
              <a:t>Developing capabilities for early detection of knee osteoarthritis indicators, ensuring timely intervention and improved patient outcomes.</a:t>
            </a:r>
          </a:p>
          <a:p>
            <a:pPr algn="just">
              <a:lnSpc>
                <a:spcPct val="150000"/>
              </a:lnSpc>
              <a:spcBef>
                <a:spcPts val="1200"/>
              </a:spcBef>
              <a:spcAft>
                <a:spcPts val="1000"/>
              </a:spcAft>
            </a:pPr>
            <a:r>
              <a:rPr lang="en-US" sz="1800" dirty="0">
                <a:solidFill>
                  <a:srgbClr val="374151"/>
                </a:solidFill>
                <a:latin typeface="Times New Roman" panose="02020603050405020304" pitchFamily="18" charset="0"/>
                <a:cs typeface="Times New Roman" panose="02020603050405020304" pitchFamily="18" charset="0"/>
              </a:rPr>
              <a:t>By pursuing these primary objectives, the research aspires to make a substantial contribution to the field of medical diagnostics, bridging existing gaps and ultimately elevating the standard of patient care in knee osteoarthritis management.</a:t>
            </a:r>
            <a:endParaRPr lang="en-IN" sz="18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64953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33926" y="998623"/>
          <a:ext cx="10744198" cy="5021527"/>
        </p:xfrm>
        <a:graphic>
          <a:graphicData uri="http://schemas.openxmlformats.org/drawingml/2006/table">
            <a:tbl>
              <a:tblPr firstRow="1" bandRow="1">
                <a:tableStyleId>{5C22544A-7EE6-4342-B048-85BDC9FD1C3A}</a:tableStyleId>
              </a:tblPr>
              <a:tblGrid>
                <a:gridCol w="853001">
                  <a:extLst>
                    <a:ext uri="{9D8B030D-6E8A-4147-A177-3AD203B41FA5}">
                      <a16:colId xmlns:a16="http://schemas.microsoft.com/office/drawing/2014/main" val="20000"/>
                    </a:ext>
                  </a:extLst>
                </a:gridCol>
                <a:gridCol w="1541369">
                  <a:extLst>
                    <a:ext uri="{9D8B030D-6E8A-4147-A177-3AD203B41FA5}">
                      <a16:colId xmlns:a16="http://schemas.microsoft.com/office/drawing/2014/main" val="20001"/>
                    </a:ext>
                  </a:extLst>
                </a:gridCol>
                <a:gridCol w="1802308">
                  <a:extLst>
                    <a:ext uri="{9D8B030D-6E8A-4147-A177-3AD203B41FA5}">
                      <a16:colId xmlns:a16="http://schemas.microsoft.com/office/drawing/2014/main" val="20002"/>
                    </a:ext>
                  </a:extLst>
                </a:gridCol>
                <a:gridCol w="1932911">
                  <a:extLst>
                    <a:ext uri="{9D8B030D-6E8A-4147-A177-3AD203B41FA5}">
                      <a16:colId xmlns:a16="http://schemas.microsoft.com/office/drawing/2014/main" val="20003"/>
                    </a:ext>
                  </a:extLst>
                </a:gridCol>
                <a:gridCol w="4614609">
                  <a:extLst>
                    <a:ext uri="{9D8B030D-6E8A-4147-A177-3AD203B41FA5}">
                      <a16:colId xmlns:a16="http://schemas.microsoft.com/office/drawing/2014/main" val="20004"/>
                    </a:ext>
                  </a:extLst>
                </a:gridCol>
              </a:tblGrid>
              <a:tr h="330613">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2362337">
                <a:tc>
                  <a:txBody>
                    <a:bodyPr/>
                    <a:lstStyle/>
                    <a:p>
                      <a:pPr algn="just">
                        <a:lnSpc>
                          <a:spcPct val="150000"/>
                        </a:lnSpc>
                      </a:pPr>
                      <a:r>
                        <a:rPr lang="en-US" sz="1600" dirty="0">
                          <a:latin typeface="Times New Roman" panose="02020603050405020304" pitchFamily="18" charset="0"/>
                          <a:cs typeface="Times New Roman" panose="02020603050405020304" pitchFamily="18" charset="0"/>
                        </a:rPr>
                        <a:t>1</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IEEE, 2022</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Sivakumari</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R. Vani</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Implementation of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AlexNet</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for Classification of Knee Osteoarthritis</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This project explores the use of the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AlexNet</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model for classifying knee osteoarthritis (KOA) severity. By leveraging deep learning technology, the aim is to enhance diagnostic accuracy and reduce the pressure on clinicians. The project assesses the model's performance in comparison to other models, emphasizing the potential of artificial intelligence in improving KOA diagnosis.</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264060">
                <a:tc>
                  <a:txBody>
                    <a:bodyPr/>
                    <a:lstStyle/>
                    <a:p>
                      <a:pPr algn="just">
                        <a:lnSpc>
                          <a:spcPct val="150000"/>
                        </a:lnSpc>
                      </a:pPr>
                      <a:r>
                        <a:rPr lang="en-US" sz="1600" dirty="0">
                          <a:latin typeface="Times New Roman" panose="02020603050405020304" pitchFamily="18" charset="0"/>
                          <a:cs typeface="Times New Roman" panose="02020603050405020304" pitchFamily="18" charset="0"/>
                        </a:rPr>
                        <a:t>2</a:t>
                      </a:r>
                    </a:p>
                  </a:txBody>
                  <a:tcPr/>
                </a:tc>
                <a:tc>
                  <a:txBody>
                    <a:bodyPr/>
                    <a:lstStyle/>
                    <a:p>
                      <a:pPr algn="just">
                        <a:lnSpc>
                          <a:spcPct val="150000"/>
                        </a:lnSpc>
                      </a:pPr>
                      <a:r>
                        <a:rPr lang="en-US" sz="1500" b="0" i="0" kern="1200" dirty="0">
                          <a:solidFill>
                            <a:schemeClr val="dk1"/>
                          </a:solidFill>
                          <a:effectLst/>
                          <a:latin typeface="Times New Roman" panose="02020603050405020304" pitchFamily="18" charset="0"/>
                          <a:ea typeface="+mn-ea"/>
                          <a:cs typeface="Times New Roman" panose="02020603050405020304" pitchFamily="18" charset="0"/>
                        </a:rPr>
                        <a:t>IOP journal, 2018</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Anifah</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L., Purnomo, M., </a:t>
                      </a: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Mengko</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T., </a:t>
                      </a: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Purnama</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I</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Osteoarthritis severity determination using self organizing map based Gabor kernel.</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This research utilizes a Gabor kernel-based x-ray image template to assess knee osteoarthritis severity in Indonesia. Through image processing, learning, and testing stages, the study achieves accuracy rates for different severity levels. Results show promise for the research to serve as a decision support system for medical practitioners in determining KL-Grade on x-ray images of knee osteoarthritis.</a:t>
                      </a: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53861" y="25645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55591" y="1148034"/>
          <a:ext cx="10165490" cy="4637660"/>
        </p:xfrm>
        <a:graphic>
          <a:graphicData uri="http://schemas.openxmlformats.org/drawingml/2006/table">
            <a:tbl>
              <a:tblPr firstRow="1" bandRow="1">
                <a:tableStyleId>{5C22544A-7EE6-4342-B048-85BDC9FD1C3A}</a:tableStyleId>
              </a:tblPr>
              <a:tblGrid>
                <a:gridCol w="807057">
                  <a:extLst>
                    <a:ext uri="{9D8B030D-6E8A-4147-A177-3AD203B41FA5}">
                      <a16:colId xmlns:a16="http://schemas.microsoft.com/office/drawing/2014/main" val="20000"/>
                    </a:ext>
                  </a:extLst>
                </a:gridCol>
                <a:gridCol w="1458347">
                  <a:extLst>
                    <a:ext uri="{9D8B030D-6E8A-4147-A177-3AD203B41FA5}">
                      <a16:colId xmlns:a16="http://schemas.microsoft.com/office/drawing/2014/main" val="20001"/>
                    </a:ext>
                  </a:extLst>
                </a:gridCol>
                <a:gridCol w="1705232">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4366054">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3</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ICPR, 2016</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IN" sz="1400" dirty="0"/>
                        <a:t>Antony, J., McGuinness, K., O’Connor, N.E., Moran, K</a:t>
                      </a: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Quantifying radiographic knee osteoarthritis severity using deep convolutional neural networks</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This paper introduces a superior method for automatically quantifying knee osteoarthritis (OA) severity, utilizing deep convolutional neural networks (CNN). The approach significantly enhances classification accuracy compared to traditional methods, showcasing notable progress on the Osteoarthritis Initiative (OAI) dataset.</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4</a:t>
                      </a:r>
                    </a:p>
                  </a:txBody>
                  <a:tcPr/>
                </a:tc>
                <a:tc>
                  <a:txBody>
                    <a:bodyPr/>
                    <a:lstStyle/>
                    <a:p>
                      <a:pPr algn="just">
                        <a:lnSpc>
                          <a:spcPct val="150000"/>
                        </a:lnSpc>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IEEE, 2013</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fi-FI" sz="1400" b="0" kern="1200" dirty="0">
                          <a:solidFill>
                            <a:schemeClr val="dk1"/>
                          </a:solidFill>
                          <a:effectLst/>
                          <a:latin typeface="Times New Roman" panose="02020603050405020304" pitchFamily="18" charset="0"/>
                          <a:ea typeface="+mn-ea"/>
                          <a:cs typeface="Times New Roman" panose="02020603050405020304" pitchFamily="18" charset="0"/>
                        </a:rPr>
                        <a:t>He, K., Sun, J., Tang, X</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a:solidFill>
                            <a:schemeClr val="dk1"/>
                          </a:solidFill>
                          <a:effectLst/>
                          <a:latin typeface="Times New Roman" panose="02020603050405020304" pitchFamily="18" charset="0"/>
                          <a:ea typeface="+mn-ea"/>
                          <a:cs typeface="Times New Roman" panose="02020603050405020304" pitchFamily="18" charset="0"/>
                        </a:rPr>
                        <a:t>Labeled Optical Coherence Tomography (OCT) and Chest X-ray Images for Classification</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The dataset in "Deep learning-based classification and referral of treatable human diseases" includes validated OCT and Chest X-Ray images. OCT images are split into training and testing sets, labeled by disease type, randomized patient ID, and image number. This dataset is essential for the study's deep learning-based classification and referral of treatable human diseases.</a:t>
                      </a: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390346" y="52245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977590" y="1308368"/>
            <a:ext cx="10236819" cy="4818627"/>
          </a:xfrm>
          <a:prstGeom prst="rect">
            <a:avLst/>
          </a:prstGeom>
        </p:spPr>
        <p:txBody>
          <a:bodyPr wrap="square">
            <a:spAutoFit/>
          </a:bodyPr>
          <a:lstStyle/>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This model emphasizes an existing method that is designed using some of the algorithms of deep learning. Here, the process is performed using CNN, which is one of the transfer learning methods, but it has encountered challenges in achieving high accuracy.</a:t>
            </a:r>
          </a:p>
          <a:p>
            <a:pPr marL="0" indent="0" algn="just">
              <a:lnSpc>
                <a:spcPct val="160000"/>
              </a:lnSpc>
              <a:spcBef>
                <a:spcPts val="0"/>
              </a:spcBef>
              <a:buNone/>
            </a:pPr>
            <a:r>
              <a:rPr lang="en-US" b="1" dirty="0">
                <a:solidFill>
                  <a:schemeClr val="tx1"/>
                </a:solidFill>
                <a:latin typeface="Times New Roman" panose="02020603050405020304" pitchFamily="18" charset="0"/>
                <a:ea typeface="Calibri" panose="020F0502020204030204" pitchFamily="34" charset="0"/>
              </a:rPr>
              <a:t>Disadvantages:</a:t>
            </a:r>
          </a:p>
          <a:p>
            <a:pPr marL="285750" indent="-285750" algn="just">
              <a:lnSpc>
                <a:spcPct val="160000"/>
              </a:lnSpc>
              <a:spcBef>
                <a:spcPts val="0"/>
              </a:spcBef>
              <a:buFont typeface="Arial" panose="020B0604020202020204" pitchFamily="34" charset="0"/>
              <a:buChar char="•"/>
            </a:pPr>
            <a:r>
              <a:rPr lang="en-US" sz="1600" b="1" dirty="0">
                <a:solidFill>
                  <a:schemeClr val="tx1"/>
                </a:solidFill>
                <a:latin typeface="Times New Roman" panose="02020603050405020304" pitchFamily="18" charset="0"/>
                <a:ea typeface="Calibri" panose="020F0502020204030204" pitchFamily="34" charset="0"/>
              </a:rPr>
              <a:t>Less Feature Compatibility</a:t>
            </a:r>
            <a:r>
              <a:rPr lang="en-US" sz="1600" dirty="0">
                <a:solidFill>
                  <a:schemeClr val="tx1"/>
                </a:solidFill>
                <a:latin typeface="Times New Roman" panose="02020603050405020304" pitchFamily="18" charset="0"/>
                <a:ea typeface="Calibri" panose="020F0502020204030204" pitchFamily="34" charset="0"/>
              </a:rPr>
              <a:t>:</a:t>
            </a:r>
          </a:p>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   The model exhibits limitations in terms of feature compatibility, possibly hindering its ability to effectively capture and analyze relevant features from the input data.</a:t>
            </a:r>
          </a:p>
          <a:p>
            <a:pPr marL="285750" indent="-285750" algn="just">
              <a:lnSpc>
                <a:spcPct val="160000"/>
              </a:lnSpc>
              <a:spcBef>
                <a:spcPts val="0"/>
              </a:spcBef>
              <a:buFont typeface="Arial" panose="020B0604020202020204" pitchFamily="34" charset="0"/>
              <a:buChar char="•"/>
            </a:pPr>
            <a:r>
              <a:rPr lang="en-US" sz="1600" b="1" dirty="0">
                <a:solidFill>
                  <a:schemeClr val="tx1"/>
                </a:solidFill>
                <a:latin typeface="Times New Roman" panose="02020603050405020304" pitchFamily="18" charset="0"/>
                <a:ea typeface="Calibri" panose="020F0502020204030204" pitchFamily="34" charset="0"/>
              </a:rPr>
              <a:t>Low Accuracy:</a:t>
            </a:r>
          </a:p>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   Despite utilizing CNN and transfer learning, the model faces challenges in achieving high accuracy, indicating potential shortcomings in its ability to precisely identify and classify knee osteoarthritis indicators.</a:t>
            </a:r>
          </a:p>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Addressing these disadvantages is crucial for optimizing the model's performance and ensuring its effectiveness in enhancing diagnostic accuracy and enabling early detection.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3761" y="747251"/>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p:cNvSpPr/>
          <p:nvPr/>
        </p:nvSpPr>
        <p:spPr>
          <a:xfrm>
            <a:off x="1424587" y="1618721"/>
            <a:ext cx="9342825" cy="3372077"/>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Computational Complexity: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utilization of advanced architectures such as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introduces increased computational demands, potentially requiring substantial resources. Managing the computational complexity becomes crucial for practical deployment.</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Processing Time: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sophisticated features of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may lead to extended processing times, particularly when dealing with large medical imaging datasets. Real-time results could be affected, and careful consideration is needed for efficient processing.</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Resource Requirements: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enhanced architectures may demand significant computational resources, limiting practicality in settings with constraints. Balancing the trade-off between model complexity and resource availability is essential for widespread applicability.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58739-370C-838E-2BF8-B60EF5C1A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C961A9-3512-4155-3BEB-5F0DB97B8200}"/>
              </a:ext>
            </a:extLst>
          </p:cNvPr>
          <p:cNvSpPr txBox="1"/>
          <p:nvPr/>
        </p:nvSpPr>
        <p:spPr>
          <a:xfrm>
            <a:off x="1343761" y="747251"/>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a:extLst>
              <a:ext uri="{FF2B5EF4-FFF2-40B4-BE49-F238E27FC236}">
                <a16:creationId xmlns:a16="http://schemas.microsoft.com/office/drawing/2014/main" id="{B296510B-87B5-8051-A4EB-D7E50F15CF6C}"/>
              </a:ext>
            </a:extLst>
          </p:cNvPr>
          <p:cNvSpPr/>
          <p:nvPr/>
        </p:nvSpPr>
        <p:spPr>
          <a:xfrm>
            <a:off x="1424587" y="1618721"/>
            <a:ext cx="9342825" cy="2633413"/>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Optimization Challenges: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Careful optimization strategies are necessary to address the computational complexities of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Achieving a balance between high accuracy and efficient deployment requires meticulous optimization.</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Deployment Practicality: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disadvantages include potential limitations in deploying the models in environments with restricted computational capabilities. Considering the practicality of implementing advanced architectures like MobileNet and ResNet becomes crucial for successful deployment in diverse healthcare settings.</a:t>
            </a:r>
          </a:p>
        </p:txBody>
      </p:sp>
    </p:spTree>
    <p:extLst>
      <p:ext uri="{BB962C8B-B14F-4D97-AF65-F5344CB8AC3E}">
        <p14:creationId xmlns:p14="http://schemas.microsoft.com/office/powerpoint/2010/main" val="1879789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7239" y="113148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287379" y="2238144"/>
            <a:ext cx="9312442" cy="3002745"/>
          </a:xfrm>
          <a:prstGeom prst="rect">
            <a:avLst/>
          </a:prstGeom>
        </p:spPr>
        <p:txBody>
          <a:bodyPr wrap="square">
            <a:spAutoFit/>
          </a:bodyPr>
          <a:lstStyle/>
          <a:p>
            <a:pPr algn="just">
              <a:lnSpc>
                <a:spcPct val="150000"/>
              </a:lnSpc>
              <a:spcBef>
                <a:spcPts val="1200"/>
              </a:spcBef>
              <a:spcAft>
                <a:spcPts val="1000"/>
              </a:spcAft>
            </a:pPr>
            <a:r>
              <a:rPr lang="en-US" sz="1600" dirty="0">
                <a:solidFill>
                  <a:srgbClr val="000000"/>
                </a:solidFill>
                <a:effectLst/>
                <a:latin typeface="Times New Roman" panose="02020603050405020304" pitchFamily="18" charset="0"/>
                <a:ea typeface="Calibri" panose="020F0502020204030204" pitchFamily="34" charset="0"/>
              </a:rPr>
              <a:t>The proposed methodology integrates a specialized Convolutional Neural Network (CNN) with </a:t>
            </a:r>
            <a:r>
              <a:rPr lang="en-US" sz="1600" dirty="0" err="1">
                <a:solidFill>
                  <a:srgbClr val="000000"/>
                </a:solidFill>
                <a:effectLst/>
                <a:latin typeface="Times New Roman" panose="02020603050405020304" pitchFamily="18" charset="0"/>
                <a:ea typeface="Calibri" panose="020F0502020204030204" pitchFamily="34" charset="0"/>
              </a:rPr>
              <a:t>AlexNet</a:t>
            </a:r>
            <a:r>
              <a:rPr lang="en-US" sz="1600" dirty="0">
                <a:solidFill>
                  <a:srgbClr val="000000"/>
                </a:solidFill>
                <a:effectLst/>
                <a:latin typeface="Times New Roman" panose="02020603050405020304" pitchFamily="18" charset="0"/>
                <a:ea typeface="Calibri" panose="020F0502020204030204" pitchFamily="34" charset="0"/>
              </a:rPr>
              <a:t>, MobileNet, and ResNet architectures for comprehensive knee osteoarthritis detection. The process commences with meticulous data preprocessing, optimizing the dataset for training. The constructed CNN model, enriched with features from </a:t>
            </a:r>
            <a:r>
              <a:rPr lang="en-US" sz="1600" dirty="0" err="1">
                <a:solidFill>
                  <a:srgbClr val="000000"/>
                </a:solidFill>
                <a:effectLst/>
                <a:latin typeface="Times New Roman" panose="02020603050405020304" pitchFamily="18" charset="0"/>
                <a:ea typeface="Calibri" panose="020F0502020204030204" pitchFamily="34" charset="0"/>
              </a:rPr>
              <a:t>AlexNet</a:t>
            </a:r>
            <a:r>
              <a:rPr lang="en-US" sz="1600" dirty="0">
                <a:solidFill>
                  <a:srgbClr val="000000"/>
                </a:solidFill>
                <a:effectLst/>
                <a:latin typeface="Times New Roman" panose="02020603050405020304" pitchFamily="18" charset="0"/>
                <a:ea typeface="Calibri" panose="020F0502020204030204" pitchFamily="34" charset="0"/>
              </a:rPr>
              <a:t>, MobileNet, and ResNet, undergoes rigorous training and performance evaluation. Key metrics guide optimization, providing insights into the strengths and limitations of each architecture. This multi-architectural approach aims to elevate the accuracy of knee osteoarthritis detection, showcasing the potential advancements achievable through the fusion of CNN, </a:t>
            </a:r>
            <a:r>
              <a:rPr lang="en-US" sz="1600" dirty="0" err="1">
                <a:solidFill>
                  <a:srgbClr val="000000"/>
                </a:solidFill>
                <a:effectLst/>
                <a:latin typeface="Times New Roman" panose="02020603050405020304" pitchFamily="18" charset="0"/>
                <a:ea typeface="Calibri" panose="020F0502020204030204" pitchFamily="34" charset="0"/>
              </a:rPr>
              <a:t>AlexNet</a:t>
            </a:r>
            <a:r>
              <a:rPr lang="en-US" sz="1600" dirty="0">
                <a:solidFill>
                  <a:srgbClr val="000000"/>
                </a:solidFill>
                <a:effectLst/>
                <a:latin typeface="Times New Roman" panose="02020603050405020304" pitchFamily="18" charset="0"/>
                <a:ea typeface="Calibri" panose="020F0502020204030204" pitchFamily="34" charset="0"/>
              </a:rPr>
              <a:t>, MobileNet, and ResNet capabilities in medical diagnostics.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94087" y="696978"/>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414395" y="1558295"/>
            <a:ext cx="9156051" cy="3741409"/>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Enhanced Pattern Recognition: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utilization of a Convolutional Neural Network (CNN) enriched with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features facilitates superior pattern recognition. This amalgamation allows the model to capture intricate details in knee images, enhancing its diagnostic capabilities.</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Hierarchical Learning: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hierarchical learning capabilities of the enhanced CNN, combined with MobileNet and ResNet architectures, contribute to a more nuanced understanding of knee osteoarthritis features. This synergistic approach potentially improves diagnostic accuracy by considering various hierarchical representations.</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Flexibility: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proposed method, incorporating features from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exhibits flexibility in adapting to diverse datasets. This adaptability makes the model applicable to different scenarios, contributing to its versatility across various medical imaging datasets.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2395" y="1034603"/>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342395" y="2059459"/>
            <a:ext cx="9385079" cy="1530162"/>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Comparative Analysis: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method enables a comprehensive comparative analysis with existing approaches, providing insights into its efficacy and potential advancements in knee osteoarthritis discovery.</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Potential for Further Research: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proposed method sets the stage for potential further research and improvements, fostering advancements in the field of medical image analysis and disease detection.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105666" y="930100"/>
            <a:ext cx="5502542"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393049" y="5668809"/>
            <a:ext cx="4627545"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E7492CA-9ECB-B0D0-DFC2-CE3569C27068}"/>
              </a:ext>
            </a:extLst>
          </p:cNvPr>
          <p:cNvPicPr>
            <a:picLocks noChangeAspect="1"/>
          </p:cNvPicPr>
          <p:nvPr/>
        </p:nvPicPr>
        <p:blipFill>
          <a:blip r:embed="rId2"/>
          <a:stretch>
            <a:fillRect/>
          </a:stretch>
        </p:blipFill>
        <p:spPr>
          <a:xfrm>
            <a:off x="2642839" y="1762125"/>
            <a:ext cx="5967761" cy="382463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1706394" y="2158314"/>
            <a:ext cx="8295066" cy="3880022"/>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18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18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18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1800" dirty="0">
                <a:latin typeface="Times New Roman" panose="02020603050405020304" pitchFamily="18" charset="0"/>
                <a:cs typeface="Times New Roman" panose="02020603050405020304" pitchFamily="18" charset="0"/>
              </a:rPr>
              <a:t>Libraries				        :  Flask, Pandas, </a:t>
            </a:r>
            <a:r>
              <a:rPr lang="en-US" sz="1800" dirty="0" err="1">
                <a:latin typeface="Times New Roman" panose="02020603050405020304" pitchFamily="18" charset="0"/>
                <a:cs typeface="Times New Roman" panose="02020603050405020304" pitchFamily="18" charset="0"/>
              </a:rPr>
              <a:t>Tensorflow</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Keras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Numpy</a:t>
            </a: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IDE/Workbench			        : </a:t>
            </a:r>
            <a:r>
              <a:rPr lang="en-US" sz="1800" dirty="0" err="1">
                <a:latin typeface="Times New Roman" panose="02020603050405020304" pitchFamily="18" charset="0"/>
                <a:cs typeface="Times New Roman" panose="02020603050405020304" pitchFamily="18" charset="0"/>
              </a:rPr>
              <a:t>VSCode</a:t>
            </a:r>
            <a:endParaRPr lang="en-US" sz="1800" dirty="0">
              <a:latin typeface="Times New Roman" panose="02020603050405020304" pitchFamily="18" charset="0"/>
              <a:cs typeface="Times New Roman" panose="02020603050405020304" pitchFamily="18" charset="0"/>
            </a:endParaRPr>
          </a:p>
        </p:txBody>
      </p:sp>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2092735" y="2011150"/>
            <a:ext cx="7825622" cy="231371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a:lnSpc>
                <a:spcPct val="150000"/>
              </a:lnSpc>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Technology				:  Python 3.6+</a:t>
            </a:r>
          </a:p>
          <a:p>
            <a:pPr algn="just">
              <a:lnSpc>
                <a:spcPct val="150000"/>
              </a:lnSpc>
            </a:pPr>
            <a:r>
              <a:rPr lang="en-US" sz="1800" dirty="0">
                <a:latin typeface="Times New Roman" panose="02020603050405020304" pitchFamily="18" charset="0"/>
                <a:cs typeface="Times New Roman" panose="02020603050405020304" pitchFamily="18" charset="0"/>
              </a:rPr>
              <a:t>Server Deployment		:  </a:t>
            </a:r>
            <a:r>
              <a:rPr lang="en-US" sz="1800" dirty="0" err="1">
                <a:latin typeface="Times New Roman" panose="02020603050405020304" pitchFamily="18" charset="0"/>
                <a:cs typeface="Times New Roman" panose="02020603050405020304" pitchFamily="18" charset="0"/>
              </a:rPr>
              <a:t>Xampp</a:t>
            </a:r>
            <a:r>
              <a:rPr lang="en-US" sz="1800" dirty="0">
                <a:latin typeface="Times New Roman" panose="02020603050405020304" pitchFamily="18" charset="0"/>
                <a:cs typeface="Times New Roman" panose="02020603050405020304" pitchFamily="18" charset="0"/>
              </a:rPr>
              <a:t> Server</a:t>
            </a:r>
          </a:p>
          <a:p>
            <a:pPr algn="just">
              <a:lnSpc>
                <a:spcPct val="150000"/>
              </a:lnSpc>
            </a:pPr>
            <a:r>
              <a:rPr lang="en-US" sz="1800" dirty="0">
                <a:latin typeface="Times New Roman" panose="02020603050405020304" pitchFamily="18" charset="0"/>
                <a:cs typeface="Times New Roman" panose="02020603050405020304" pitchFamily="18" charset="0"/>
              </a:rPr>
              <a:t>Database				:  MySQL</a:t>
            </a:r>
          </a:p>
          <a:p>
            <a:pPr marL="137160" indent="0" algn="just">
              <a:lnSpc>
                <a:spcPct val="150000"/>
              </a:lnSpc>
              <a:buNone/>
            </a:pPr>
            <a:r>
              <a:rPr lang="en-US" sz="2000" dirty="0">
                <a:latin typeface="Times New Roman" panose="02020603050405020304" pitchFamily="18" charset="0"/>
                <a:cs typeface="Times New Roman" panose="02020603050405020304" pitchFamily="18" charset="0"/>
              </a:rPr>
              <a:t>      </a:t>
            </a:r>
            <a:endParaRPr lang="en-US" sz="20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HARDWARE REQUIREMENTS</a:t>
            </a:r>
          </a:p>
          <a:p>
            <a:pPr algn="just">
              <a:lnSpc>
                <a:spcPct val="150000"/>
              </a:lnSpc>
            </a:pPr>
            <a:r>
              <a:rPr lang="en-US" sz="1800" dirty="0">
                <a:latin typeface="Times New Roman" panose="02020603050405020304" pitchFamily="18" charset="0"/>
                <a:cs typeface="Times New Roman" panose="02020603050405020304" pitchFamily="18" charset="0"/>
              </a:rPr>
              <a:t>Processor            	                   - I3/Intel Processor</a:t>
            </a:r>
            <a:endParaRPr lang="en-US" sz="1800" b="1"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RAM                                       - 4GB (min)</a:t>
            </a:r>
            <a:endParaRPr lang="en-US" sz="1800" b="1"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Hard Disk                                - 128 GB</a:t>
            </a:r>
          </a:p>
          <a:p>
            <a:pPr algn="just">
              <a:lnSpc>
                <a:spcPct val="150000"/>
              </a:lnSpc>
            </a:pPr>
            <a:r>
              <a:rPr lang="en-US" sz="1800"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sz="1800"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sz="1800"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2126" y="2279171"/>
            <a:ext cx="9567747" cy="3474860"/>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16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964368" y="2424046"/>
            <a:ext cx="9746166" cy="3568791"/>
          </a:xfrm>
          <a:prstGeom prst="rect">
            <a:avLst/>
          </a:prstGeom>
        </p:spPr>
        <p:txBody>
          <a:bodyPr>
            <a:normAutofit fontScale="77500" lnSpcReduction="2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1" algn="just" fontAlgn="base">
              <a:lnSpc>
                <a:spcPct val="170000"/>
              </a:lnSpc>
            </a:pPr>
            <a:r>
              <a:rPr lang="en-US" sz="2300" dirty="0">
                <a:effectLst/>
                <a:latin typeface="Times New Roman" panose="02020603050405020304" pitchFamily="18" charset="0"/>
                <a:ea typeface="Calibri" panose="020F0502020204030204" pitchFamily="34" charset="0"/>
              </a:rPr>
              <a:t>Sound Event Detection (SED) systems are designed to recognize and classify various sound events within an audio stream, distinguishing between different types of sounds such as speech, music, environmental noises, and more. The functional requirements of a SED system typically include the ability to accurately detect, classify, and annotate sound events in real-time or from recorded audio. This involves processing audio input, extracting features relevant to sound events, and applying machine learning models to classify these events. The system should support a wide range of sound event classes and be adaptable to different environments.</a:t>
            </a:r>
            <a:r>
              <a:rPr lang="en-US" sz="1300" dirty="0">
                <a:latin typeface="Times New Roman" panose="02020603050405020304" pitchFamily="18" charset="0"/>
                <a:cs typeface="Times New Roman" panose="02020603050405020304" pitchFamily="18" charset="0"/>
              </a:rPr>
              <a:t>.</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87130"/>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ARCHITECTURE</a:t>
            </a:r>
            <a:endParaRPr lang="en-US" sz="3600" b="1" dirty="0"/>
          </a:p>
        </p:txBody>
      </p:sp>
      <p:pic>
        <p:nvPicPr>
          <p:cNvPr id="9" name="Picture 8">
            <a:extLst>
              <a:ext uri="{FF2B5EF4-FFF2-40B4-BE49-F238E27FC236}">
                <a16:creationId xmlns:a16="http://schemas.microsoft.com/office/drawing/2014/main" id="{0CB99091-3845-6947-823E-DAA8A8A44005}"/>
              </a:ext>
            </a:extLst>
          </p:cNvPr>
          <p:cNvPicPr>
            <a:picLocks noChangeAspect="1"/>
          </p:cNvPicPr>
          <p:nvPr/>
        </p:nvPicPr>
        <p:blipFill>
          <a:blip r:embed="rId2"/>
          <a:stretch>
            <a:fillRect/>
          </a:stretch>
        </p:blipFill>
        <p:spPr>
          <a:xfrm>
            <a:off x="3133493" y="1462087"/>
            <a:ext cx="5341434" cy="452611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B99DE-67EE-71EE-EE3D-12AE59058A3D}"/>
              </a:ext>
            </a:extLst>
          </p:cNvPr>
          <p:cNvSpPr txBox="1">
            <a:spLocks/>
          </p:cNvSpPr>
          <p:nvPr/>
        </p:nvSpPr>
        <p:spPr>
          <a:xfrm>
            <a:off x="1815152" y="622841"/>
            <a:ext cx="8570343" cy="631484"/>
          </a:xfrm>
          <a:prstGeom prst="rect">
            <a:avLst/>
          </a:prstGeom>
        </p:spPr>
        <p:txBody>
          <a:bodyP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latin typeface="Times New Roman" panose="02020603050405020304" pitchFamily="18" charset="0"/>
                <a:cs typeface="Times New Roman" panose="02020603050405020304" pitchFamily="18" charset="0"/>
              </a:rPr>
              <a:t>MODULES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9C188B-2929-E0A9-5326-585A92E295BC}"/>
              </a:ext>
            </a:extLst>
          </p:cNvPr>
          <p:cNvSpPr txBox="1">
            <a:spLocks/>
          </p:cNvSpPr>
          <p:nvPr/>
        </p:nvSpPr>
        <p:spPr>
          <a:xfrm>
            <a:off x="935665" y="1035644"/>
            <a:ext cx="10430540" cy="5390865"/>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 System:</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User</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1.1 Create Dataset:</a:t>
            </a:r>
          </a:p>
          <a:p>
            <a:pPr marL="0" indent="0" algn="just">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The knee X-ray image dataset designated for classification is partitioned into training and testing sets, with a test size of 20-30%.</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1.2 Pre-processing:</a:t>
            </a:r>
          </a:p>
          <a:p>
            <a:pPr marL="0" indent="0" algn="just">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Images undergo resizing and reshaping, ensuring they are in the appropriate format for model training.</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1.3 Training:</a:t>
            </a:r>
          </a:p>
          <a:p>
            <a:pPr marL="0" indent="0" algn="just">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The pre-processed training dataset is employed to train the model, utilizing the </a:t>
            </a:r>
            <a:r>
              <a:rPr lang="en-US" sz="1600" dirty="0" err="1">
                <a:solidFill>
                  <a:schemeClr val="tx1"/>
                </a:solidFill>
                <a:latin typeface="Times New Roman" panose="02020603050405020304" pitchFamily="18" charset="0"/>
                <a:cs typeface="Times New Roman" panose="02020603050405020304" pitchFamily="18" charset="0"/>
              </a:rPr>
              <a:t>Mobilenet</a:t>
            </a:r>
            <a:r>
              <a:rPr lang="en-US" sz="1600" dirty="0">
                <a:solidFill>
                  <a:schemeClr val="tx1"/>
                </a:solidFill>
                <a:latin typeface="Times New Roman" panose="02020603050405020304" pitchFamily="18" charset="0"/>
                <a:cs typeface="Times New Roman" panose="02020603050405020304" pitchFamily="18" charset="0"/>
              </a:rPr>
              <a:t> algorithm and incorporating various transfer learning methods to enhance performance.</a:t>
            </a:r>
          </a:p>
        </p:txBody>
      </p:sp>
    </p:spTree>
    <p:extLst>
      <p:ext uri="{BB962C8B-B14F-4D97-AF65-F5344CB8AC3E}">
        <p14:creationId xmlns:p14="http://schemas.microsoft.com/office/powerpoint/2010/main" val="917892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87069" y="944794"/>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p:cNvSpPr/>
          <p:nvPr/>
        </p:nvSpPr>
        <p:spPr>
          <a:xfrm>
            <a:off x="1209822" y="2019526"/>
            <a:ext cx="9945445" cy="3058979"/>
          </a:xfrm>
          <a:prstGeom prst="rect">
            <a:avLst/>
          </a:prstGeom>
        </p:spPr>
        <p:txBody>
          <a:bodyPr wrap="square">
            <a:spAutoFit/>
          </a:bodyPr>
          <a:lstStyle/>
          <a:p>
            <a:pPr algn="just">
              <a:lnSpc>
                <a:spcPct val="150000"/>
              </a:lnSpc>
              <a:spcAft>
                <a:spcPts val="800"/>
              </a:spcAf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Event Detection Module:</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This is the core of the SED system, where machine learning or deep learning models are applied to the extracted features to identify and classify sound events within each frame. Algorithms like Convolutional Neural Networks (CNNs), Recurrent Neural Networks (RNNs), and their variants are commonly used.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Post-Processing Module</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After sound events are detected, this module can refine the results by removing false positives, combining closely spaced detections of the same event, and smoothing the output to produce a more coherent and accurate representation of the detected sound events over time.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96553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526463"/>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p:cNvSpPr/>
          <p:nvPr/>
        </p:nvSpPr>
        <p:spPr>
          <a:xfrm>
            <a:off x="914400" y="697302"/>
            <a:ext cx="10526750" cy="5634235"/>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ALEX NET</a:t>
            </a:r>
            <a:endParaRPr lang="en-US" sz="1600"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Selection: </a:t>
            </a:r>
          </a:p>
          <a:p>
            <a:pPr algn="just">
              <a:lnSpc>
                <a:spcPct val="150000"/>
              </a:lnSpc>
            </a:pPr>
            <a:r>
              <a:rPr lang="en-US" sz="1600" dirty="0">
                <a:latin typeface="Times New Roman" panose="02020603050405020304" pitchFamily="18" charset="0"/>
                <a:cs typeface="Times New Roman" panose="02020603050405020304" pitchFamily="18" charset="0"/>
              </a:rPr>
              <a:t>	Opting for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due to its historical success in image classification.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Fine-tuning Strategy:</a:t>
            </a:r>
          </a:p>
          <a:p>
            <a:pPr algn="just">
              <a:lnSpc>
                <a:spcPct val="150000"/>
              </a:lnSpc>
            </a:pPr>
            <a:r>
              <a:rPr lang="en-US" sz="1600" dirty="0">
                <a:latin typeface="Times New Roman" panose="02020603050405020304" pitchFamily="18" charset="0"/>
                <a:cs typeface="Times New Roman" panose="02020603050405020304" pitchFamily="18" charset="0"/>
              </a:rPr>
              <a:t>	Fine-tuning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to tailor it for knee osteoarthritis detection.</a:t>
            </a:r>
          </a:p>
          <a:p>
            <a:pPr algn="just">
              <a:lnSpc>
                <a:spcPct val="150000"/>
              </a:lnSpc>
            </a:pPr>
            <a:r>
              <a:rPr lang="en-US" sz="1600" dirty="0">
                <a:latin typeface="Times New Roman" panose="02020603050405020304" pitchFamily="18" charset="0"/>
                <a:cs typeface="Times New Roman" panose="02020603050405020304" pitchFamily="18" charset="0"/>
              </a:rPr>
              <a:t>	Initialization with random weights, as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doesn't have a pre-trained model.</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Top Layer Customization:</a:t>
            </a:r>
          </a:p>
          <a:p>
            <a:pPr algn="just">
              <a:lnSpc>
                <a:spcPct val="150000"/>
              </a:lnSpc>
            </a:pPr>
            <a:r>
              <a:rPr lang="en-US" sz="1600" dirty="0">
                <a:latin typeface="Times New Roman" panose="02020603050405020304" pitchFamily="18" charset="0"/>
                <a:cs typeface="Times New Roman" panose="02020603050405020304" pitchFamily="18" charset="0"/>
              </a:rPr>
              <a:t>	Adapting the top layers of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to meet the requirements of multi-class classification in knee osteoarthritis analysis.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Implementation Libraries:</a:t>
            </a:r>
          </a:p>
          <a:p>
            <a:pPr algn="just">
              <a:lnSpc>
                <a:spcPct val="150000"/>
              </a:lnSpc>
            </a:pPr>
            <a:r>
              <a:rPr lang="en-US" sz="1600" dirty="0">
                <a:latin typeface="Times New Roman" panose="02020603050405020304" pitchFamily="18" charset="0"/>
                <a:cs typeface="Times New Roman" panose="02020603050405020304" pitchFamily="18" charset="0"/>
              </a:rPr>
              <a:t>	Utilizing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for seamless development.</a:t>
            </a:r>
          </a:p>
          <a:p>
            <a:pPr algn="just">
              <a:lnSpc>
                <a:spcPct val="150000"/>
              </a:lnSpc>
            </a:pPr>
            <a:r>
              <a:rPr lang="en-US" sz="1600" dirty="0">
                <a:latin typeface="Times New Roman" panose="02020603050405020304" pitchFamily="18" charset="0"/>
                <a:cs typeface="Times New Roman" panose="02020603050405020304" pitchFamily="18" charset="0"/>
              </a:rPr>
              <a:t>	Leveraging the strengths of these libraries for deep learning model implementation.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Additional Notes:</a:t>
            </a:r>
          </a:p>
          <a:p>
            <a:pPr algn="just">
              <a:lnSpc>
                <a:spcPct val="15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doesn't come with a pre-trained model; therefore, the model is initialized with random weights.</a:t>
            </a:r>
          </a:p>
          <a:p>
            <a:pPr algn="just">
              <a:lnSpc>
                <a:spcPct val="150000"/>
              </a:lnSpc>
            </a:pPr>
            <a:r>
              <a:rPr lang="en-US" sz="1600" dirty="0">
                <a:latin typeface="Times New Roman" panose="02020603050405020304" pitchFamily="18" charset="0"/>
                <a:cs typeface="Times New Roman" panose="02020603050405020304" pitchFamily="18" charset="0"/>
              </a:rPr>
              <a:t>	Emphasis on the fine-tuning process for task-specific adaptation.</a:t>
            </a:r>
          </a:p>
        </p:txBody>
      </p:sp>
    </p:spTree>
    <p:extLst>
      <p:ext uri="{BB962C8B-B14F-4D97-AF65-F5344CB8AC3E}">
        <p14:creationId xmlns:p14="http://schemas.microsoft.com/office/powerpoint/2010/main" val="1310851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88D1E-EB10-2B3C-B068-2D657F09ADE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4DAD68D-F522-6013-1969-8E78D80E65DD}"/>
              </a:ext>
            </a:extLst>
          </p:cNvPr>
          <p:cNvSpPr txBox="1"/>
          <p:nvPr/>
        </p:nvSpPr>
        <p:spPr>
          <a:xfrm>
            <a:off x="1797666" y="526463"/>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a:extLst>
              <a:ext uri="{FF2B5EF4-FFF2-40B4-BE49-F238E27FC236}">
                <a16:creationId xmlns:a16="http://schemas.microsoft.com/office/drawing/2014/main" id="{5A77B6FB-671F-3C24-A57D-30220DD296CE}"/>
              </a:ext>
            </a:extLst>
          </p:cNvPr>
          <p:cNvSpPr/>
          <p:nvPr/>
        </p:nvSpPr>
        <p:spPr>
          <a:xfrm>
            <a:off x="735980" y="697302"/>
            <a:ext cx="10705170" cy="5218736"/>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MOBILENET</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Selection: </a:t>
            </a:r>
            <a:r>
              <a:rPr lang="en-US" sz="1600" dirty="0">
                <a:latin typeface="Times New Roman" panose="02020603050405020304" pitchFamily="18" charset="0"/>
                <a:cs typeface="Times New Roman" panose="02020603050405020304" pitchFamily="18" charset="0"/>
              </a:rPr>
              <a:t>Choosing MobileNet for its efficiency in terms of computational resources and memory, suitable for deployment on resource-constrained devices.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Fine-tuning Strategy: </a:t>
            </a:r>
            <a:r>
              <a:rPr lang="en-US" sz="1600" dirty="0">
                <a:latin typeface="Times New Roman" panose="02020603050405020304" pitchFamily="18" charset="0"/>
                <a:cs typeface="Times New Roman" panose="02020603050405020304" pitchFamily="18" charset="0"/>
              </a:rPr>
              <a:t>Fine-tuning MobileNet to cater specifically to knee osteoarthritis detection requirements.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Initialization: </a:t>
            </a:r>
            <a:r>
              <a:rPr lang="en-US" sz="1600" dirty="0">
                <a:latin typeface="Times New Roman" panose="02020603050405020304" pitchFamily="18" charset="0"/>
                <a:cs typeface="Times New Roman" panose="02020603050405020304" pitchFamily="18" charset="0"/>
              </a:rPr>
              <a:t>Initiating the model with random weights as MobileNet doesn't come with a pre-trained model for the given task.</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Top Layer Customization: </a:t>
            </a:r>
            <a:r>
              <a:rPr lang="en-US" sz="1600" dirty="0">
                <a:latin typeface="Times New Roman" panose="02020603050405020304" pitchFamily="18" charset="0"/>
                <a:cs typeface="Times New Roman" panose="02020603050405020304" pitchFamily="18" charset="0"/>
              </a:rPr>
              <a:t>Adjusting the top layers of MobileNet to align with the demands of multi-class classification in knee osteoarthritis analysis.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Implementation Libraries: </a:t>
            </a:r>
            <a:r>
              <a:rPr lang="en-US" sz="1600" dirty="0">
                <a:latin typeface="Times New Roman" panose="02020603050405020304" pitchFamily="18" charset="0"/>
                <a:cs typeface="Times New Roman" panose="02020603050405020304" pitchFamily="18" charset="0"/>
              </a:rPr>
              <a:t>Employing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libraries for the seamless development of the MobileNet-based model.</a:t>
            </a:r>
          </a:p>
          <a:p>
            <a:pPr algn="just">
              <a:lnSpc>
                <a:spcPct val="150000"/>
              </a:lnSpc>
            </a:pPr>
            <a:r>
              <a:rPr lang="en-US" sz="1600" dirty="0">
                <a:latin typeface="Times New Roman" panose="02020603050405020304" pitchFamily="18" charset="0"/>
                <a:cs typeface="Times New Roman" panose="02020603050405020304" pitchFamily="18" charset="0"/>
              </a:rPr>
              <a:t>      Capitalizing on the capabilities of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for efficient deep learning model implementation.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Additional Notes: </a:t>
            </a:r>
            <a:r>
              <a:rPr lang="en-US" sz="1600" dirty="0">
                <a:latin typeface="Times New Roman" panose="02020603050405020304" pitchFamily="18" charset="0"/>
                <a:cs typeface="Times New Roman" panose="02020603050405020304" pitchFamily="18" charset="0"/>
              </a:rPr>
              <a:t>Emphasizing the resource-efficient nature of MobileNet, making it suitable for deployment in scenarios with limited computational resources.</a:t>
            </a:r>
          </a:p>
          <a:p>
            <a:pPr algn="just">
              <a:lnSpc>
                <a:spcPct val="150000"/>
              </a:lnSpc>
            </a:pPr>
            <a:r>
              <a:rPr lang="en-US" sz="1600" dirty="0">
                <a:latin typeface="Times New Roman" panose="02020603050405020304" pitchFamily="18" charset="0"/>
                <a:cs typeface="Times New Roman" panose="02020603050405020304" pitchFamily="18" charset="0"/>
              </a:rPr>
              <a:t>     Highlighting the importance of the fine-tuning process for adapting MobileNet to the specific task.</a:t>
            </a:r>
          </a:p>
        </p:txBody>
      </p:sp>
    </p:spTree>
    <p:extLst>
      <p:ext uri="{BB962C8B-B14F-4D97-AF65-F5344CB8AC3E}">
        <p14:creationId xmlns:p14="http://schemas.microsoft.com/office/powerpoint/2010/main" val="2353980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9E6BF-2833-8F82-C473-6B1610791A7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EA58B20-4A2E-1531-9CE3-236180BE93AD}"/>
              </a:ext>
            </a:extLst>
          </p:cNvPr>
          <p:cNvSpPr txBox="1"/>
          <p:nvPr/>
        </p:nvSpPr>
        <p:spPr>
          <a:xfrm>
            <a:off x="1797666" y="526463"/>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a:extLst>
              <a:ext uri="{FF2B5EF4-FFF2-40B4-BE49-F238E27FC236}">
                <a16:creationId xmlns:a16="http://schemas.microsoft.com/office/drawing/2014/main" id="{53EA660D-5C81-8779-C309-EC5D5E299E29}"/>
              </a:ext>
            </a:extLst>
          </p:cNvPr>
          <p:cNvSpPr/>
          <p:nvPr/>
        </p:nvSpPr>
        <p:spPr>
          <a:xfrm>
            <a:off x="735980" y="697302"/>
            <a:ext cx="10705170" cy="5218736"/>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RESNET</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Selection: </a:t>
            </a:r>
            <a:r>
              <a:rPr lang="en-US" sz="1600" dirty="0">
                <a:latin typeface="Times New Roman" panose="02020603050405020304" pitchFamily="18" charset="0"/>
                <a:cs typeface="Times New Roman" panose="02020603050405020304" pitchFamily="18" charset="0"/>
              </a:rPr>
              <a:t>Opting for ResNet due to its deep architecture, enabling effective feature learning and representation.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Fine-tuning Strategy: </a:t>
            </a:r>
            <a:r>
              <a:rPr lang="en-US" sz="1600" dirty="0">
                <a:latin typeface="Times New Roman" panose="02020603050405020304" pitchFamily="18" charset="0"/>
                <a:cs typeface="Times New Roman" panose="02020603050405020304" pitchFamily="18" charset="0"/>
              </a:rPr>
              <a:t>Fine-tuning ResNet to tailor it for the nuanced requirements of knee osteoarthritis detection.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Initialization: </a:t>
            </a:r>
            <a:r>
              <a:rPr lang="en-US" sz="1600" dirty="0">
                <a:latin typeface="Times New Roman" panose="02020603050405020304" pitchFamily="18" charset="0"/>
                <a:cs typeface="Times New Roman" panose="02020603050405020304" pitchFamily="18" charset="0"/>
              </a:rPr>
              <a:t>Initializing the model with random weights, as ResNet doesn't come with a pre-trained model for the designated task.</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Top Layer Customization: </a:t>
            </a:r>
            <a:r>
              <a:rPr lang="en-US" sz="1600" dirty="0">
                <a:latin typeface="Times New Roman" panose="02020603050405020304" pitchFamily="18" charset="0"/>
                <a:cs typeface="Times New Roman" panose="02020603050405020304" pitchFamily="18" charset="0"/>
              </a:rPr>
              <a:t>Modifying the top layers of ResNet to meet the criteria of multi-class classification in knee osteoarthritis analysis.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Implementation Libraries: </a:t>
            </a:r>
            <a:r>
              <a:rPr lang="en-US" sz="1600" dirty="0">
                <a:latin typeface="Times New Roman" panose="02020603050405020304" pitchFamily="18" charset="0"/>
                <a:cs typeface="Times New Roman" panose="02020603050405020304" pitchFamily="18" charset="0"/>
              </a:rPr>
              <a:t>Utilizing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libraries for the streamlined development of the ResNet-based model.</a:t>
            </a:r>
          </a:p>
          <a:p>
            <a:pPr algn="just">
              <a:lnSpc>
                <a:spcPct val="150000"/>
              </a:lnSpc>
            </a:pPr>
            <a:r>
              <a:rPr lang="en-US" sz="1600" dirty="0">
                <a:latin typeface="Times New Roman" panose="02020603050405020304" pitchFamily="18" charset="0"/>
                <a:cs typeface="Times New Roman" panose="02020603050405020304" pitchFamily="18" charset="0"/>
              </a:rPr>
              <a:t>      Leveraging the robust functionalities of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for efficient deep learning model implementation.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Additional Notes: </a:t>
            </a:r>
            <a:r>
              <a:rPr lang="en-US" sz="1600" dirty="0">
                <a:latin typeface="Times New Roman" panose="02020603050405020304" pitchFamily="18" charset="0"/>
                <a:cs typeface="Times New Roman" panose="02020603050405020304" pitchFamily="18" charset="0"/>
              </a:rPr>
              <a:t>Emphasizing the deep architecture of ResNet, facilitating effective feature extraction in complex medical imaging datasets.  </a:t>
            </a:r>
          </a:p>
          <a:p>
            <a:pPr algn="just">
              <a:lnSpc>
                <a:spcPct val="150000"/>
              </a:lnSpc>
            </a:pPr>
            <a:r>
              <a:rPr lang="en-US" sz="1600" dirty="0">
                <a:latin typeface="Times New Roman" panose="02020603050405020304" pitchFamily="18" charset="0"/>
                <a:cs typeface="Times New Roman" panose="02020603050405020304" pitchFamily="18" charset="0"/>
              </a:rPr>
              <a:t>     Underscoring the significance of the fine-tuning process to adapt ResNet to the specific requirements of knee </a:t>
            </a:r>
          </a:p>
          <a:p>
            <a:pPr algn="just">
              <a:lnSpc>
                <a:spcPct val="150000"/>
              </a:lnSpc>
            </a:pPr>
            <a:r>
              <a:rPr lang="en-US" sz="1600" dirty="0">
                <a:latin typeface="Times New Roman" panose="02020603050405020304" pitchFamily="18" charset="0"/>
                <a:cs typeface="Times New Roman" panose="02020603050405020304" pitchFamily="18" charset="0"/>
              </a:rPr>
              <a:t>     Osteoarthritis detection.</a:t>
            </a:r>
          </a:p>
        </p:txBody>
      </p:sp>
    </p:spTree>
    <p:extLst>
      <p:ext uri="{BB962C8B-B14F-4D97-AF65-F5344CB8AC3E}">
        <p14:creationId xmlns:p14="http://schemas.microsoft.com/office/powerpoint/2010/main" val="39590654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87069" y="944794"/>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p:cNvSpPr/>
          <p:nvPr/>
        </p:nvSpPr>
        <p:spPr>
          <a:xfrm>
            <a:off x="1416204" y="2019526"/>
            <a:ext cx="9739063" cy="355122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Training:</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Split the dataset into training, validation, and test sets. </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Train each model separately on the training set. </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Use augmentation techniques to increase the diversity of the training data.</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Evaluation:</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Evaluate the models using metrics such as accuracy, precision on the validation set.</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Integration and Testing:</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Integrate the models into a system or application.</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Test the models on the test dataset and real-world scenarios to assess their practical effectiveness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98512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B26EB-5AD7-1A27-0685-320B5BA547F6}"/>
              </a:ext>
            </a:extLst>
          </p:cNvPr>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48718BB7-C7A8-6BBB-EA8C-66D15EF6AF82}"/>
              </a:ext>
            </a:extLst>
          </p:cNvPr>
          <p:cNvSpPr txBox="1"/>
          <p:nvPr/>
        </p:nvSpPr>
        <p:spPr>
          <a:xfrm>
            <a:off x="1236562" y="2544225"/>
            <a:ext cx="9045146" cy="2997231"/>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extLst>
      <p:ext uri="{BB962C8B-B14F-4D97-AF65-F5344CB8AC3E}">
        <p14:creationId xmlns:p14="http://schemas.microsoft.com/office/powerpoint/2010/main" val="1420370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a:extLst>
              <a:ext uri="{FF2B5EF4-FFF2-40B4-BE49-F238E27FC236}">
                <a16:creationId xmlns:a16="http://schemas.microsoft.com/office/drawing/2014/main" id="{91DFBC07-8EB5-BB06-146B-5B52940123FB}"/>
              </a:ext>
            </a:extLst>
          </p:cNvPr>
          <p:cNvSpPr txBox="1"/>
          <p:nvPr/>
        </p:nvSpPr>
        <p:spPr>
          <a:xfrm>
            <a:off x="4121709" y="5735955"/>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4" name="Picture 3">
            <a:extLst>
              <a:ext uri="{FF2B5EF4-FFF2-40B4-BE49-F238E27FC236}">
                <a16:creationId xmlns:a16="http://schemas.microsoft.com/office/drawing/2014/main" id="{BD5025A5-710C-BFC4-549F-41B3EAF3E4AE}"/>
              </a:ext>
            </a:extLst>
          </p:cNvPr>
          <p:cNvPicPr>
            <a:picLocks noChangeAspect="1"/>
          </p:cNvPicPr>
          <p:nvPr/>
        </p:nvPicPr>
        <p:blipFill>
          <a:blip r:embed="rId2"/>
          <a:stretch>
            <a:fillRect/>
          </a:stretch>
        </p:blipFill>
        <p:spPr>
          <a:xfrm>
            <a:off x="3323907" y="1076007"/>
            <a:ext cx="5544185" cy="4705985"/>
          </a:xfrm>
          <a:prstGeom prst="rect">
            <a:avLst/>
          </a:prstGeom>
        </p:spPr>
      </p:pic>
    </p:spTree>
    <p:extLst>
      <p:ext uri="{BB962C8B-B14F-4D97-AF65-F5344CB8AC3E}">
        <p14:creationId xmlns:p14="http://schemas.microsoft.com/office/powerpoint/2010/main" val="2623421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EB4DB-EE20-36A4-1D08-9F3AE4B9A766}"/>
              </a:ext>
            </a:extLst>
          </p:cNvPr>
          <p:cNvSpPr txBox="1"/>
          <p:nvPr/>
        </p:nvSpPr>
        <p:spPr>
          <a:xfrm>
            <a:off x="1573427" y="105016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8E3D6E43-CB99-1A11-D30D-E6E1102C3A28}"/>
              </a:ext>
            </a:extLst>
          </p:cNvPr>
          <p:cNvSpPr txBox="1"/>
          <p:nvPr/>
        </p:nvSpPr>
        <p:spPr>
          <a:xfrm>
            <a:off x="1573427" y="2457589"/>
            <a:ext cx="9045146" cy="2166234"/>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3231273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02E588-C45D-28AA-E15D-ABC57A767F87}"/>
              </a:ext>
            </a:extLst>
          </p:cNvPr>
          <p:cNvSpPr txBox="1"/>
          <p:nvPr/>
        </p:nvSpPr>
        <p:spPr>
          <a:xfrm>
            <a:off x="4108862" y="5403740"/>
            <a:ext cx="29738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Class diagram</a:t>
            </a:r>
          </a:p>
        </p:txBody>
      </p:sp>
      <p:pic>
        <p:nvPicPr>
          <p:cNvPr id="4" name="Picture 3">
            <a:extLst>
              <a:ext uri="{FF2B5EF4-FFF2-40B4-BE49-F238E27FC236}">
                <a16:creationId xmlns:a16="http://schemas.microsoft.com/office/drawing/2014/main" id="{F318EA3A-EF7E-8BFA-1F11-AE14943DE4B0}"/>
              </a:ext>
            </a:extLst>
          </p:cNvPr>
          <p:cNvPicPr>
            <a:picLocks noChangeAspect="1"/>
          </p:cNvPicPr>
          <p:nvPr/>
        </p:nvPicPr>
        <p:blipFill>
          <a:blip r:embed="rId2"/>
          <a:stretch>
            <a:fillRect/>
          </a:stretch>
        </p:blipFill>
        <p:spPr>
          <a:xfrm>
            <a:off x="3230245" y="1562735"/>
            <a:ext cx="5731510" cy="3732530"/>
          </a:xfrm>
          <a:prstGeom prst="rect">
            <a:avLst/>
          </a:prstGeom>
        </p:spPr>
      </p:pic>
    </p:spTree>
    <p:extLst>
      <p:ext uri="{BB962C8B-B14F-4D97-AF65-F5344CB8AC3E}">
        <p14:creationId xmlns:p14="http://schemas.microsoft.com/office/powerpoint/2010/main" val="2497679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7F306-D860-62D9-FB03-B0214E3128F3}"/>
              </a:ext>
            </a:extLst>
          </p:cNvPr>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F24EC5FF-8B60-A909-9A36-FD1B91B857FA}"/>
              </a:ext>
            </a:extLst>
          </p:cNvPr>
          <p:cNvSpPr txBox="1"/>
          <p:nvPr/>
        </p:nvSpPr>
        <p:spPr>
          <a:xfrm>
            <a:off x="1774882" y="1911179"/>
            <a:ext cx="9045146" cy="262232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61937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1ABA0E-B889-3769-DEC7-E4EA2BA2ADB1}"/>
              </a:ext>
            </a:extLst>
          </p:cNvPr>
          <p:cNvSpPr txBox="1"/>
          <p:nvPr/>
        </p:nvSpPr>
        <p:spPr>
          <a:xfrm>
            <a:off x="3830294" y="572957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Sequence diagram</a:t>
            </a:r>
          </a:p>
        </p:txBody>
      </p:sp>
      <p:pic>
        <p:nvPicPr>
          <p:cNvPr id="4" name="Picture 3">
            <a:extLst>
              <a:ext uri="{FF2B5EF4-FFF2-40B4-BE49-F238E27FC236}">
                <a16:creationId xmlns:a16="http://schemas.microsoft.com/office/drawing/2014/main" id="{F0DC9396-A21F-11C1-12ED-CBE4DF80AD88}"/>
              </a:ext>
            </a:extLst>
          </p:cNvPr>
          <p:cNvPicPr>
            <a:picLocks noChangeAspect="1"/>
          </p:cNvPicPr>
          <p:nvPr/>
        </p:nvPicPr>
        <p:blipFill>
          <a:blip r:embed="rId2"/>
          <a:stretch>
            <a:fillRect/>
          </a:stretch>
        </p:blipFill>
        <p:spPr>
          <a:xfrm>
            <a:off x="3366770" y="1176337"/>
            <a:ext cx="5458460" cy="4505325"/>
          </a:xfrm>
          <a:prstGeom prst="rect">
            <a:avLst/>
          </a:prstGeom>
        </p:spPr>
      </p:pic>
    </p:spTree>
    <p:extLst>
      <p:ext uri="{BB962C8B-B14F-4D97-AF65-F5344CB8AC3E}">
        <p14:creationId xmlns:p14="http://schemas.microsoft.com/office/powerpoint/2010/main" val="3022839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F3BB2-87BF-7008-ADFD-CCC11799FD85}"/>
              </a:ext>
            </a:extLst>
          </p:cNvPr>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15A51B70-75C0-8E39-6C79-F9BFF9976858}"/>
              </a:ext>
            </a:extLst>
          </p:cNvPr>
          <p:cNvSpPr txBox="1"/>
          <p:nvPr/>
        </p:nvSpPr>
        <p:spPr>
          <a:xfrm>
            <a:off x="1573483" y="2084174"/>
            <a:ext cx="9045146" cy="299723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val="12872384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C6E962-0DFB-2DA9-D2F6-C572C49CF724}"/>
              </a:ext>
            </a:extLst>
          </p:cNvPr>
          <p:cNvSpPr txBox="1"/>
          <p:nvPr/>
        </p:nvSpPr>
        <p:spPr>
          <a:xfrm>
            <a:off x="3876908" y="503359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Collaboration diagram</a:t>
            </a:r>
          </a:p>
        </p:txBody>
      </p:sp>
      <p:pic>
        <p:nvPicPr>
          <p:cNvPr id="4" name="Picture 3">
            <a:extLst>
              <a:ext uri="{FF2B5EF4-FFF2-40B4-BE49-F238E27FC236}">
                <a16:creationId xmlns:a16="http://schemas.microsoft.com/office/drawing/2014/main" id="{55E7B761-E418-A642-AEA7-88449BA932AB}"/>
              </a:ext>
            </a:extLst>
          </p:cNvPr>
          <p:cNvPicPr>
            <a:picLocks noChangeAspect="1"/>
          </p:cNvPicPr>
          <p:nvPr/>
        </p:nvPicPr>
        <p:blipFill>
          <a:blip r:embed="rId2"/>
          <a:stretch>
            <a:fillRect/>
          </a:stretch>
        </p:blipFill>
        <p:spPr>
          <a:xfrm>
            <a:off x="2594517" y="1271239"/>
            <a:ext cx="7002966" cy="3625191"/>
          </a:xfrm>
          <a:prstGeom prst="rect">
            <a:avLst/>
          </a:prstGeom>
        </p:spPr>
      </p:pic>
    </p:spTree>
    <p:extLst>
      <p:ext uri="{BB962C8B-B14F-4D97-AF65-F5344CB8AC3E}">
        <p14:creationId xmlns:p14="http://schemas.microsoft.com/office/powerpoint/2010/main" val="7597362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43EEB-F3EE-8D2E-59C2-E60C442DDC7C}"/>
              </a:ext>
            </a:extLst>
          </p:cNvPr>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8662770F-D4A2-74EC-1FE5-711493E55477}"/>
              </a:ext>
            </a:extLst>
          </p:cNvPr>
          <p:cNvSpPr txBox="1"/>
          <p:nvPr/>
        </p:nvSpPr>
        <p:spPr>
          <a:xfrm>
            <a:off x="1573483" y="2084174"/>
            <a:ext cx="9045146" cy="216623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Tree>
    <p:extLst>
      <p:ext uri="{BB962C8B-B14F-4D97-AF65-F5344CB8AC3E}">
        <p14:creationId xmlns:p14="http://schemas.microsoft.com/office/powerpoint/2010/main" val="4066926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6B0C0F-6B18-7EF7-687F-38BB348E6CEA}"/>
              </a:ext>
            </a:extLst>
          </p:cNvPr>
          <p:cNvPicPr>
            <a:picLocks noChangeAspect="1"/>
          </p:cNvPicPr>
          <p:nvPr/>
        </p:nvPicPr>
        <p:blipFill>
          <a:blip r:embed="rId2"/>
          <a:stretch>
            <a:fillRect/>
          </a:stretch>
        </p:blipFill>
        <p:spPr>
          <a:xfrm>
            <a:off x="3111190" y="1750741"/>
            <a:ext cx="5508703" cy="2375209"/>
          </a:xfrm>
          <a:prstGeom prst="rect">
            <a:avLst/>
          </a:prstGeom>
        </p:spPr>
      </p:pic>
      <p:sp>
        <p:nvSpPr>
          <p:cNvPr id="3" name="TextBox 2">
            <a:extLst>
              <a:ext uri="{FF2B5EF4-FFF2-40B4-BE49-F238E27FC236}">
                <a16:creationId xmlns:a16="http://schemas.microsoft.com/office/drawing/2014/main" id="{43A86C2C-A927-CEE4-2ECC-44C963F14A4C}"/>
              </a:ext>
            </a:extLst>
          </p:cNvPr>
          <p:cNvSpPr txBox="1"/>
          <p:nvPr/>
        </p:nvSpPr>
        <p:spPr>
          <a:xfrm>
            <a:off x="3720791" y="494438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Deployment diagram</a:t>
            </a:r>
          </a:p>
        </p:txBody>
      </p:sp>
    </p:spTree>
    <p:extLst>
      <p:ext uri="{BB962C8B-B14F-4D97-AF65-F5344CB8AC3E}">
        <p14:creationId xmlns:p14="http://schemas.microsoft.com/office/powerpoint/2010/main" val="31713846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10431-101A-3D18-32E7-CECFB6CFDA3D}"/>
              </a:ext>
            </a:extLst>
          </p:cNvPr>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B05F8E0B-69ED-D34A-9093-49F513C2C3CF}"/>
              </a:ext>
            </a:extLst>
          </p:cNvPr>
          <p:cNvSpPr txBox="1"/>
          <p:nvPr/>
        </p:nvSpPr>
        <p:spPr>
          <a:xfrm>
            <a:off x="1573483" y="2084174"/>
            <a:ext cx="9045146" cy="216623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val="37375940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FCFD89-ABC4-4A12-EB63-D7347AB9012B}"/>
              </a:ext>
            </a:extLst>
          </p:cNvPr>
          <p:cNvSpPr txBox="1"/>
          <p:nvPr/>
        </p:nvSpPr>
        <p:spPr>
          <a:xfrm>
            <a:off x="4002657" y="5684011"/>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pic>
        <p:nvPicPr>
          <p:cNvPr id="4" name="Picture 3">
            <a:extLst>
              <a:ext uri="{FF2B5EF4-FFF2-40B4-BE49-F238E27FC236}">
                <a16:creationId xmlns:a16="http://schemas.microsoft.com/office/drawing/2014/main" id="{B755A84D-9085-BBA3-5B8B-C591243EEA17}"/>
              </a:ext>
            </a:extLst>
          </p:cNvPr>
          <p:cNvPicPr>
            <a:picLocks noChangeAspect="1"/>
          </p:cNvPicPr>
          <p:nvPr/>
        </p:nvPicPr>
        <p:blipFill>
          <a:blip r:embed="rId2"/>
          <a:stretch>
            <a:fillRect/>
          </a:stretch>
        </p:blipFill>
        <p:spPr>
          <a:xfrm>
            <a:off x="3230245" y="1211897"/>
            <a:ext cx="5731510" cy="4434205"/>
          </a:xfrm>
          <a:prstGeom prst="rect">
            <a:avLst/>
          </a:prstGeom>
        </p:spPr>
      </p:pic>
    </p:spTree>
    <p:extLst>
      <p:ext uri="{BB962C8B-B14F-4D97-AF65-F5344CB8AC3E}">
        <p14:creationId xmlns:p14="http://schemas.microsoft.com/office/powerpoint/2010/main" val="624998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6BAAE-D55E-10AC-9D89-0EAAB5461ADF}"/>
              </a:ext>
            </a:extLst>
          </p:cNvPr>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9FE5DAC2-B29F-36E5-A51B-A1E2BC1908F9}"/>
              </a:ext>
            </a:extLst>
          </p:cNvPr>
          <p:cNvSpPr txBox="1"/>
          <p:nvPr/>
        </p:nvSpPr>
        <p:spPr>
          <a:xfrm>
            <a:off x="1573483" y="2084174"/>
            <a:ext cx="9045146" cy="216623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b="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val="2113591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0361CE-B1FB-954F-511D-EF8CC16EBC6F}"/>
              </a:ext>
            </a:extLst>
          </p:cNvPr>
          <p:cNvPicPr>
            <a:picLocks noChangeAspect="1"/>
          </p:cNvPicPr>
          <p:nvPr/>
        </p:nvPicPr>
        <p:blipFill>
          <a:blip r:embed="rId2"/>
          <a:stretch>
            <a:fillRect/>
          </a:stretch>
        </p:blipFill>
        <p:spPr>
          <a:xfrm>
            <a:off x="2542478" y="1789772"/>
            <a:ext cx="7304049" cy="2107580"/>
          </a:xfrm>
          <a:prstGeom prst="rect">
            <a:avLst/>
          </a:prstGeom>
        </p:spPr>
      </p:pic>
      <p:sp>
        <p:nvSpPr>
          <p:cNvPr id="3" name="TextBox 2">
            <a:extLst>
              <a:ext uri="{FF2B5EF4-FFF2-40B4-BE49-F238E27FC236}">
                <a16:creationId xmlns:a16="http://schemas.microsoft.com/office/drawing/2014/main" id="{16D9437A-D856-D140-5614-D2F43D09A6F4}"/>
              </a:ext>
            </a:extLst>
          </p:cNvPr>
          <p:cNvSpPr txBox="1"/>
          <p:nvPr/>
        </p:nvSpPr>
        <p:spPr>
          <a:xfrm>
            <a:off x="3739175" y="4095287"/>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spTree>
    <p:extLst>
      <p:ext uri="{BB962C8B-B14F-4D97-AF65-F5344CB8AC3E}">
        <p14:creationId xmlns:p14="http://schemas.microsoft.com/office/powerpoint/2010/main" val="34563230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99721-FD41-3716-E66C-9C7CFE3BC323}"/>
              </a:ext>
            </a:extLst>
          </p:cNvPr>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AAF53965-9E8D-178F-F9C1-39370775D966}"/>
              </a:ext>
            </a:extLst>
          </p:cNvPr>
          <p:cNvSpPr txBox="1"/>
          <p:nvPr/>
        </p:nvSpPr>
        <p:spPr>
          <a:xfrm>
            <a:off x="963827" y="1470197"/>
            <a:ext cx="10536194" cy="382822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val="29739546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50A6E1-19D6-A9A5-D39B-74FD16440172}"/>
              </a:ext>
            </a:extLst>
          </p:cNvPr>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4" name="Picture 3">
            <a:extLst>
              <a:ext uri="{FF2B5EF4-FFF2-40B4-BE49-F238E27FC236}">
                <a16:creationId xmlns:a16="http://schemas.microsoft.com/office/drawing/2014/main" id="{3FB3E5ED-618E-3E49-6214-62E0C5257E8A}"/>
              </a:ext>
            </a:extLst>
          </p:cNvPr>
          <p:cNvPicPr>
            <a:picLocks noChangeAspect="1"/>
          </p:cNvPicPr>
          <p:nvPr/>
        </p:nvPicPr>
        <p:blipFill>
          <a:blip r:embed="rId2"/>
          <a:stretch>
            <a:fillRect/>
          </a:stretch>
        </p:blipFill>
        <p:spPr>
          <a:xfrm>
            <a:off x="2720898" y="1260088"/>
            <a:ext cx="7025268" cy="3603377"/>
          </a:xfrm>
          <a:prstGeom prst="rect">
            <a:avLst/>
          </a:prstGeom>
        </p:spPr>
      </p:pic>
    </p:spTree>
    <p:extLst>
      <p:ext uri="{BB962C8B-B14F-4D97-AF65-F5344CB8AC3E}">
        <p14:creationId xmlns:p14="http://schemas.microsoft.com/office/powerpoint/2010/main" val="11176007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423A4-F9BC-B9F4-A703-00DEFD03332F}"/>
              </a:ext>
            </a:extLst>
          </p:cNvPr>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5BA5E133-0123-5190-1680-EBF7009E8C3C}"/>
              </a:ext>
            </a:extLst>
          </p:cNvPr>
          <p:cNvSpPr txBox="1"/>
          <p:nvPr/>
        </p:nvSpPr>
        <p:spPr>
          <a:xfrm>
            <a:off x="1276865" y="1692618"/>
            <a:ext cx="9737124" cy="341272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298466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7B4BA7-FF75-EACF-BAC2-0D1DAC80CBDA}"/>
              </a:ext>
            </a:extLst>
          </p:cNvPr>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pic>
        <p:nvPicPr>
          <p:cNvPr id="4" name="Picture 3">
            <a:extLst>
              <a:ext uri="{FF2B5EF4-FFF2-40B4-BE49-F238E27FC236}">
                <a16:creationId xmlns:a16="http://schemas.microsoft.com/office/drawing/2014/main" id="{8BAD56EC-C555-C5B2-8491-D5D3545B6235}"/>
              </a:ext>
            </a:extLst>
          </p:cNvPr>
          <p:cNvPicPr>
            <a:picLocks noChangeAspect="1"/>
          </p:cNvPicPr>
          <p:nvPr/>
        </p:nvPicPr>
        <p:blipFill>
          <a:blip r:embed="rId2"/>
          <a:stretch>
            <a:fillRect/>
          </a:stretch>
        </p:blipFill>
        <p:spPr>
          <a:xfrm>
            <a:off x="2397512" y="1169422"/>
            <a:ext cx="7415561" cy="3718808"/>
          </a:xfrm>
          <a:prstGeom prst="rect">
            <a:avLst/>
          </a:prstGeom>
        </p:spPr>
      </p:pic>
    </p:spTree>
    <p:extLst>
      <p:ext uri="{BB962C8B-B14F-4D97-AF65-F5344CB8AC3E}">
        <p14:creationId xmlns:p14="http://schemas.microsoft.com/office/powerpoint/2010/main" val="5189230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AAD1AF-D584-AFDA-7A23-4B4B5B67311E}"/>
              </a:ext>
            </a:extLst>
          </p:cNvPr>
          <p:cNvSpPr txBox="1"/>
          <p:nvPr/>
        </p:nvSpPr>
        <p:spPr>
          <a:xfrm>
            <a:off x="3716873" y="5757221"/>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FigureLevel-1 diagram</a:t>
            </a:r>
          </a:p>
        </p:txBody>
      </p:sp>
      <p:pic>
        <p:nvPicPr>
          <p:cNvPr id="4" name="Graphic 1">
            <a:extLst>
              <a:ext uri="{FF2B5EF4-FFF2-40B4-BE49-F238E27FC236}">
                <a16:creationId xmlns:a16="http://schemas.microsoft.com/office/drawing/2014/main" id="{26ADE422-7AD8-228B-C526-456B9EB9C2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30245" y="789877"/>
            <a:ext cx="5731510" cy="4967343"/>
          </a:xfrm>
          <a:prstGeom prst="rect">
            <a:avLst/>
          </a:prstGeom>
        </p:spPr>
      </p:pic>
    </p:spTree>
    <p:extLst>
      <p:ext uri="{BB962C8B-B14F-4D97-AF65-F5344CB8AC3E}">
        <p14:creationId xmlns:p14="http://schemas.microsoft.com/office/powerpoint/2010/main" val="1634095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21216F-C20B-3561-0138-E06B28A55448}"/>
              </a:ext>
            </a:extLst>
          </p:cNvPr>
          <p:cNvSpPr txBox="1"/>
          <p:nvPr/>
        </p:nvSpPr>
        <p:spPr>
          <a:xfrm>
            <a:off x="4260993" y="573306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4" name="Graphic 1">
            <a:extLst>
              <a:ext uri="{FF2B5EF4-FFF2-40B4-BE49-F238E27FC236}">
                <a16:creationId xmlns:a16="http://schemas.microsoft.com/office/drawing/2014/main" id="{DF4743D7-41D2-1DA8-54AE-B6E7BB38771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73767" y="724828"/>
            <a:ext cx="5731510" cy="5118411"/>
          </a:xfrm>
          <a:prstGeom prst="rect">
            <a:avLst/>
          </a:prstGeom>
        </p:spPr>
      </p:pic>
    </p:spTree>
    <p:extLst>
      <p:ext uri="{BB962C8B-B14F-4D97-AF65-F5344CB8AC3E}">
        <p14:creationId xmlns:p14="http://schemas.microsoft.com/office/powerpoint/2010/main" val="14745078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E9F25-533A-9360-23C8-1060E38FC697}"/>
              </a:ext>
            </a:extLst>
          </p:cNvPr>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OUTPUT SCREENSHOT</a:t>
            </a:r>
          </a:p>
        </p:txBody>
      </p:sp>
      <p:sp>
        <p:nvSpPr>
          <p:cNvPr id="3" name="TextBox 2">
            <a:extLst>
              <a:ext uri="{FF2B5EF4-FFF2-40B4-BE49-F238E27FC236}">
                <a16:creationId xmlns:a16="http://schemas.microsoft.com/office/drawing/2014/main" id="{60E41FF1-03F1-BBBA-87CC-C42C01CBD115}"/>
              </a:ext>
            </a:extLst>
          </p:cNvPr>
          <p:cNvSpPr txBox="1"/>
          <p:nvPr/>
        </p:nvSpPr>
        <p:spPr>
          <a:xfrm>
            <a:off x="592301" y="1420770"/>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HOME PAGE:</a:t>
            </a:r>
          </a:p>
        </p:txBody>
      </p:sp>
      <p:pic>
        <p:nvPicPr>
          <p:cNvPr id="4" name="Picture 3">
            <a:extLst>
              <a:ext uri="{FF2B5EF4-FFF2-40B4-BE49-F238E27FC236}">
                <a16:creationId xmlns:a16="http://schemas.microsoft.com/office/drawing/2014/main" id="{23D0F291-B3F7-A441-D0E2-00BA81E63ECD}"/>
              </a:ext>
            </a:extLst>
          </p:cNvPr>
          <p:cNvPicPr>
            <a:picLocks noChangeAspect="1"/>
          </p:cNvPicPr>
          <p:nvPr/>
        </p:nvPicPr>
        <p:blipFill>
          <a:blip r:embed="rId2"/>
          <a:stretch>
            <a:fillRect/>
          </a:stretch>
        </p:blipFill>
        <p:spPr>
          <a:xfrm>
            <a:off x="2293543" y="1950564"/>
            <a:ext cx="7497228" cy="4037641"/>
          </a:xfrm>
          <a:prstGeom prst="rect">
            <a:avLst/>
          </a:prstGeom>
        </p:spPr>
      </p:pic>
    </p:spTree>
    <p:extLst>
      <p:ext uri="{BB962C8B-B14F-4D97-AF65-F5344CB8AC3E}">
        <p14:creationId xmlns:p14="http://schemas.microsoft.com/office/powerpoint/2010/main" val="41095817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E03FCC-612A-E8CC-F8B0-8A642936163B}"/>
              </a:ext>
            </a:extLst>
          </p:cNvPr>
          <p:cNvSpPr txBox="1"/>
          <p:nvPr/>
        </p:nvSpPr>
        <p:spPr>
          <a:xfrm>
            <a:off x="1349297" y="833244"/>
            <a:ext cx="6110868" cy="463397"/>
          </a:xfrm>
          <a:prstGeom prst="rect">
            <a:avLst/>
          </a:prstGeom>
          <a:noFill/>
        </p:spPr>
        <p:txBody>
          <a:bodyPr wrap="square">
            <a:spAutoFit/>
          </a:bodyPr>
          <a:lstStyle/>
          <a:p>
            <a:pPr algn="just">
              <a:lnSpc>
                <a:spcPct val="150000"/>
              </a:lnSpc>
              <a:spcAft>
                <a:spcPts val="800"/>
              </a:spcAft>
            </a:pP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About Page:</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88360E9-6CD7-35B1-8FFC-E55287D96A4E}"/>
              </a:ext>
            </a:extLst>
          </p:cNvPr>
          <p:cNvPicPr>
            <a:picLocks noChangeAspect="1"/>
          </p:cNvPicPr>
          <p:nvPr/>
        </p:nvPicPr>
        <p:blipFill>
          <a:blip r:embed="rId2"/>
          <a:stretch>
            <a:fillRect/>
          </a:stretch>
        </p:blipFill>
        <p:spPr>
          <a:xfrm>
            <a:off x="1984917" y="1471960"/>
            <a:ext cx="8486078" cy="4552795"/>
          </a:xfrm>
          <a:prstGeom prst="rect">
            <a:avLst/>
          </a:prstGeom>
        </p:spPr>
      </p:pic>
    </p:spTree>
    <p:extLst>
      <p:ext uri="{BB962C8B-B14F-4D97-AF65-F5344CB8AC3E}">
        <p14:creationId xmlns:p14="http://schemas.microsoft.com/office/powerpoint/2010/main" val="13484235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6AFC13-9CA7-E5B1-2654-8652D923A9E9}"/>
              </a:ext>
            </a:extLst>
          </p:cNvPr>
          <p:cNvSpPr txBox="1"/>
          <p:nvPr/>
        </p:nvSpPr>
        <p:spPr>
          <a:xfrm>
            <a:off x="659208" y="92722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Upload Images:</a:t>
            </a:r>
          </a:p>
        </p:txBody>
      </p:sp>
      <p:pic>
        <p:nvPicPr>
          <p:cNvPr id="2" name="Picture 1">
            <a:extLst>
              <a:ext uri="{FF2B5EF4-FFF2-40B4-BE49-F238E27FC236}">
                <a16:creationId xmlns:a16="http://schemas.microsoft.com/office/drawing/2014/main" id="{BB913D0E-30EB-6C78-4E81-344958BE933C}"/>
              </a:ext>
            </a:extLst>
          </p:cNvPr>
          <p:cNvPicPr>
            <a:picLocks noChangeAspect="1"/>
          </p:cNvPicPr>
          <p:nvPr/>
        </p:nvPicPr>
        <p:blipFill>
          <a:blip r:embed="rId2"/>
          <a:stretch>
            <a:fillRect/>
          </a:stretch>
        </p:blipFill>
        <p:spPr>
          <a:xfrm>
            <a:off x="2129883" y="1527716"/>
            <a:ext cx="7883912" cy="4270917"/>
          </a:xfrm>
          <a:prstGeom prst="rect">
            <a:avLst/>
          </a:prstGeom>
        </p:spPr>
      </p:pic>
    </p:spTree>
    <p:extLst>
      <p:ext uri="{BB962C8B-B14F-4D97-AF65-F5344CB8AC3E}">
        <p14:creationId xmlns:p14="http://schemas.microsoft.com/office/powerpoint/2010/main" val="3752737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031F73-1F92-45FE-8AFF-1518169C3310}"/>
              </a:ext>
            </a:extLst>
          </p:cNvPr>
          <p:cNvSpPr txBox="1"/>
          <p:nvPr/>
        </p:nvSpPr>
        <p:spPr>
          <a:xfrm>
            <a:off x="659208" y="92722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Healthy Image</a:t>
            </a:r>
          </a:p>
        </p:txBody>
      </p:sp>
      <p:pic>
        <p:nvPicPr>
          <p:cNvPr id="3" name="Picture 2">
            <a:extLst>
              <a:ext uri="{FF2B5EF4-FFF2-40B4-BE49-F238E27FC236}">
                <a16:creationId xmlns:a16="http://schemas.microsoft.com/office/drawing/2014/main" id="{DF49B065-7475-0695-7DDB-B62D79143CEC}"/>
              </a:ext>
            </a:extLst>
          </p:cNvPr>
          <p:cNvPicPr>
            <a:picLocks noChangeAspect="1"/>
          </p:cNvPicPr>
          <p:nvPr/>
        </p:nvPicPr>
        <p:blipFill>
          <a:blip r:embed="rId2"/>
          <a:stretch>
            <a:fillRect/>
          </a:stretch>
        </p:blipFill>
        <p:spPr>
          <a:xfrm>
            <a:off x="2237678" y="1628156"/>
            <a:ext cx="7716644" cy="4203932"/>
          </a:xfrm>
          <a:prstGeom prst="rect">
            <a:avLst/>
          </a:prstGeom>
        </p:spPr>
      </p:pic>
    </p:spTree>
    <p:extLst>
      <p:ext uri="{BB962C8B-B14F-4D97-AF65-F5344CB8AC3E}">
        <p14:creationId xmlns:p14="http://schemas.microsoft.com/office/powerpoint/2010/main" val="1809034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031F73-1F92-45FE-8AFF-1518169C3310}"/>
              </a:ext>
            </a:extLst>
          </p:cNvPr>
          <p:cNvSpPr txBox="1"/>
          <p:nvPr/>
        </p:nvSpPr>
        <p:spPr>
          <a:xfrm>
            <a:off x="659208" y="92722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Doubtful Image</a:t>
            </a:r>
          </a:p>
        </p:txBody>
      </p:sp>
      <p:pic>
        <p:nvPicPr>
          <p:cNvPr id="3" name="Picture 2">
            <a:extLst>
              <a:ext uri="{FF2B5EF4-FFF2-40B4-BE49-F238E27FC236}">
                <a16:creationId xmlns:a16="http://schemas.microsoft.com/office/drawing/2014/main" id="{862B36B4-48E0-9DBF-52CE-2C9E94E0E261}"/>
              </a:ext>
            </a:extLst>
          </p:cNvPr>
          <p:cNvPicPr>
            <a:picLocks noChangeAspect="1"/>
          </p:cNvPicPr>
          <p:nvPr/>
        </p:nvPicPr>
        <p:blipFill>
          <a:blip r:embed="rId2"/>
          <a:stretch>
            <a:fillRect/>
          </a:stretch>
        </p:blipFill>
        <p:spPr>
          <a:xfrm>
            <a:off x="2074127" y="1681797"/>
            <a:ext cx="8374566" cy="4248978"/>
          </a:xfrm>
          <a:prstGeom prst="rect">
            <a:avLst/>
          </a:prstGeom>
        </p:spPr>
      </p:pic>
    </p:spTree>
    <p:extLst>
      <p:ext uri="{BB962C8B-B14F-4D97-AF65-F5344CB8AC3E}">
        <p14:creationId xmlns:p14="http://schemas.microsoft.com/office/powerpoint/2010/main" val="31198779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5621B-97A6-5D53-5FAC-01C6072CA3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36AD3E-FD84-5190-92E5-7AB827C6DEE9}"/>
              </a:ext>
            </a:extLst>
          </p:cNvPr>
          <p:cNvSpPr txBox="1"/>
          <p:nvPr/>
        </p:nvSpPr>
        <p:spPr>
          <a:xfrm>
            <a:off x="659208" y="92722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Minimal Image</a:t>
            </a:r>
          </a:p>
        </p:txBody>
      </p:sp>
      <p:pic>
        <p:nvPicPr>
          <p:cNvPr id="4" name="Picture 3">
            <a:extLst>
              <a:ext uri="{FF2B5EF4-FFF2-40B4-BE49-F238E27FC236}">
                <a16:creationId xmlns:a16="http://schemas.microsoft.com/office/drawing/2014/main" id="{C474968D-853B-EDA6-AD8D-FF75D8CD0988}"/>
              </a:ext>
            </a:extLst>
          </p:cNvPr>
          <p:cNvPicPr>
            <a:picLocks noChangeAspect="1"/>
          </p:cNvPicPr>
          <p:nvPr/>
        </p:nvPicPr>
        <p:blipFill>
          <a:blip r:embed="rId2"/>
          <a:stretch>
            <a:fillRect/>
          </a:stretch>
        </p:blipFill>
        <p:spPr>
          <a:xfrm>
            <a:off x="2074126" y="1748789"/>
            <a:ext cx="7872761" cy="4272869"/>
          </a:xfrm>
          <a:prstGeom prst="rect">
            <a:avLst/>
          </a:prstGeom>
        </p:spPr>
      </p:pic>
    </p:spTree>
    <p:extLst>
      <p:ext uri="{BB962C8B-B14F-4D97-AF65-F5344CB8AC3E}">
        <p14:creationId xmlns:p14="http://schemas.microsoft.com/office/powerpoint/2010/main" val="32430968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35DB4-91D7-A052-1E6E-983239FA44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507068-BFC2-371F-D5F6-71BDCCC121C9}"/>
              </a:ext>
            </a:extLst>
          </p:cNvPr>
          <p:cNvSpPr txBox="1"/>
          <p:nvPr/>
        </p:nvSpPr>
        <p:spPr>
          <a:xfrm>
            <a:off x="659208" y="92722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Moderate Image</a:t>
            </a:r>
          </a:p>
        </p:txBody>
      </p:sp>
      <p:pic>
        <p:nvPicPr>
          <p:cNvPr id="3" name="Picture 2">
            <a:extLst>
              <a:ext uri="{FF2B5EF4-FFF2-40B4-BE49-F238E27FC236}">
                <a16:creationId xmlns:a16="http://schemas.microsoft.com/office/drawing/2014/main" id="{E1812F46-B812-4179-79E4-8B8D47DD6491}"/>
              </a:ext>
            </a:extLst>
          </p:cNvPr>
          <p:cNvPicPr>
            <a:picLocks noChangeAspect="1"/>
          </p:cNvPicPr>
          <p:nvPr/>
        </p:nvPicPr>
        <p:blipFill>
          <a:blip r:embed="rId2"/>
          <a:stretch>
            <a:fillRect/>
          </a:stretch>
        </p:blipFill>
        <p:spPr>
          <a:xfrm>
            <a:off x="1962614" y="1691322"/>
            <a:ext cx="8374566" cy="4140766"/>
          </a:xfrm>
          <a:prstGeom prst="rect">
            <a:avLst/>
          </a:prstGeom>
        </p:spPr>
      </p:pic>
    </p:spTree>
    <p:extLst>
      <p:ext uri="{BB962C8B-B14F-4D97-AF65-F5344CB8AC3E}">
        <p14:creationId xmlns:p14="http://schemas.microsoft.com/office/powerpoint/2010/main" val="22644188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7B4B8-4804-8D43-65E0-52FA2F1783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6C85787-7747-117D-E574-976AFFCAD417}"/>
              </a:ext>
            </a:extLst>
          </p:cNvPr>
          <p:cNvSpPr txBox="1"/>
          <p:nvPr/>
        </p:nvSpPr>
        <p:spPr>
          <a:xfrm>
            <a:off x="659208" y="92722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Severe Images</a:t>
            </a:r>
          </a:p>
        </p:txBody>
      </p:sp>
      <p:pic>
        <p:nvPicPr>
          <p:cNvPr id="4" name="Picture 3">
            <a:extLst>
              <a:ext uri="{FF2B5EF4-FFF2-40B4-BE49-F238E27FC236}">
                <a16:creationId xmlns:a16="http://schemas.microsoft.com/office/drawing/2014/main" id="{57A57ACA-B904-C987-390F-35D85853E64C}"/>
              </a:ext>
            </a:extLst>
          </p:cNvPr>
          <p:cNvPicPr>
            <a:picLocks noChangeAspect="1"/>
          </p:cNvPicPr>
          <p:nvPr/>
        </p:nvPicPr>
        <p:blipFill>
          <a:blip r:embed="rId2"/>
          <a:stretch>
            <a:fillRect/>
          </a:stretch>
        </p:blipFill>
        <p:spPr>
          <a:xfrm>
            <a:off x="1873404" y="1733232"/>
            <a:ext cx="8040029" cy="4197543"/>
          </a:xfrm>
          <a:prstGeom prst="rect">
            <a:avLst/>
          </a:prstGeom>
        </p:spPr>
      </p:pic>
    </p:spTree>
    <p:extLst>
      <p:ext uri="{BB962C8B-B14F-4D97-AF65-F5344CB8AC3E}">
        <p14:creationId xmlns:p14="http://schemas.microsoft.com/office/powerpoint/2010/main" val="5536138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FD430-2C96-C567-2F46-35AD3C9D7A0C}"/>
              </a:ext>
            </a:extLst>
          </p:cNvPr>
          <p:cNvSpPr txBox="1"/>
          <p:nvPr/>
        </p:nvSpPr>
        <p:spPr>
          <a:xfrm>
            <a:off x="1404105" y="107929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145E4597-BAC9-7B77-1552-C2EEB3C76964}"/>
              </a:ext>
            </a:extLst>
          </p:cNvPr>
          <p:cNvSpPr txBox="1"/>
          <p:nvPr/>
        </p:nvSpPr>
        <p:spPr>
          <a:xfrm>
            <a:off x="1404105" y="2362181"/>
            <a:ext cx="9669056" cy="2125390"/>
          </a:xfrm>
          <a:prstGeom prst="rect">
            <a:avLst/>
          </a:prstGeom>
          <a:noFill/>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this project we have successfully classified the images of knee X-ray images of a person, is either affected with the pneumonia or normal using the deep learning. Here, we have considered the dataset of knee X-ray images which will be of 2 different types (pneumonia affected and normal) and trained using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along with some of the transfer learning methods. After the training we have tested by uploading the image and classified 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293267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40366" y="1927627"/>
            <a:ext cx="9311268" cy="3372077"/>
          </a:xfrm>
          <a:prstGeom prst="rect">
            <a:avLst/>
          </a:prstGeom>
        </p:spPr>
        <p:txBody>
          <a:bodyPr wrap="square">
            <a:spAutoFit/>
          </a:bodyPr>
          <a:lstStyle/>
          <a:p>
            <a:pPr marL="342900" indent="-342900" algn="just">
              <a:lnSpc>
                <a:spcPct val="150000"/>
              </a:lnSpc>
              <a:buFont typeface="Symbol" panose="05050102010706020507" pitchFamily="18" charset="2"/>
              <a:buChar cha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T.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Sivakumari</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R. Vani: Implementation of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AlexNet</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for Classification of Knee Osteoarthritis, IEEE (2022)</a:t>
            </a:r>
          </a:p>
          <a:p>
            <a:pPr marL="342900" indent="-342900" algn="just">
              <a:lnSpc>
                <a:spcPct val="150000"/>
              </a:lnSpc>
              <a:buFont typeface="Symbol" panose="05050102010706020507" pitchFamily="18" charset="2"/>
              <a:buChar char=""/>
            </a:pP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Anifah</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L., Purnomo, M.,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Mengko</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T.,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Purnama</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I.: Osteoarthritis severity determination using self organizing map based Gabor kernel. In: IOP Conference Series: Materials Science and Engineering, vol. 306, p. 012071. IOP Publishing (2018) </a:t>
            </a:r>
          </a:p>
          <a:p>
            <a:pPr marL="342900" indent="-342900" algn="just">
              <a:lnSpc>
                <a:spcPct val="150000"/>
              </a:lnSpc>
              <a:buFont typeface="Symbol" panose="05050102010706020507" pitchFamily="18" charset="2"/>
              <a:buChar cha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Antony, J., McGuinness, K., O’Connor, N.E., Moran, K.: Quantifying radiographic knee osteoarthritis severity using deep convolutional neural networks. In: 2016 23rd International Conference on Pattern Recognition (ICPR), pp. 1195–1200. IEEE (2016) </a:t>
            </a:r>
          </a:p>
          <a:p>
            <a:pPr marL="342900" indent="-342900" algn="just">
              <a:lnSpc>
                <a:spcPct val="150000"/>
              </a:lnSpc>
              <a:buFont typeface="Symbol" panose="05050102010706020507" pitchFamily="18" charset="2"/>
              <a:buChar cha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He, K., Sun, J., Tang, X.: Guided image filtering. IEEE Trans. Pattern Anal. Mach.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Intell</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6, 1397–1409 (2013) </a:t>
            </a:r>
          </a:p>
        </p:txBody>
      </p:sp>
      <p:sp>
        <p:nvSpPr>
          <p:cNvPr id="3" name="Title 1"/>
          <p:cNvSpPr txBox="1"/>
          <p:nvPr/>
        </p:nvSpPr>
        <p:spPr>
          <a:xfrm>
            <a:off x="1709372" y="961361"/>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440</TotalTime>
  <Words>3972</Words>
  <Application>Microsoft Office PowerPoint</Application>
  <PresentationFormat>Widescreen</PresentationFormat>
  <Paragraphs>248</Paragraphs>
  <Slides>60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Arial</vt:lpstr>
      <vt:lpstr>Calibri</vt:lpstr>
      <vt:lpstr>Garamond</vt:lpstr>
      <vt:lpstr>Symbol</vt:lpstr>
      <vt:lpstr>Times New Roman</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PREETHI DESAI</dc:creator>
  <cp:lastModifiedBy>Aishwarya Raut</cp:lastModifiedBy>
  <cp:revision>305</cp:revision>
  <dcterms:created xsi:type="dcterms:W3CDTF">2022-11-19T11:35:00Z</dcterms:created>
  <dcterms:modified xsi:type="dcterms:W3CDTF">2024-02-14T12:32:00Z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A1EC5F6991B543508BE3500887CC9BF4</vt:lpwstr>
  </property>
  <property fmtid="{D5CDD505-2E9C-101B-9397-08002B2CF9AE}" pid="3" name="KSOProductBuildVer">
    <vt:lpwstr>1033-11.2.0.11417</vt:lpwstr>
  </property>
</Properties>
</file>